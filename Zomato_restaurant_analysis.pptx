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9" r:id="rId4"/>
    <p:sldId id="258" r:id="rId5"/>
    <p:sldId id="260" r:id="rId6"/>
    <p:sldId id="261" r:id="rId7"/>
    <p:sldId id="262" r:id="rId8"/>
    <p:sldId id="263" r:id="rId9"/>
    <p:sldId id="264" r:id="rId10"/>
    <p:sldId id="265" r:id="rId11"/>
    <p:sldId id="266" r:id="rId12"/>
    <p:sldId id="272" r:id="rId13"/>
    <p:sldId id="269" r:id="rId14"/>
    <p:sldId id="267" r:id="rId15"/>
    <p:sldId id="268"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7" d="100"/>
          <a:sy n="67" d="100"/>
        </p:scale>
        <p:origin x="8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B1859E-630E-487F-8B39-E03925139A15}" type="datetimeFigureOut">
              <a:rPr lang="en-IN" smtClean="0"/>
              <a:t>30-05-2026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1AB5E4-FEE8-4935-833B-1FEA0CADD9DA}" type="slidenum">
              <a:rPr lang="en-IN" smtClean="0"/>
              <a:t>‹#›</a:t>
            </a:fld>
            <a:endParaRPr lang="en-IN"/>
          </a:p>
        </p:txBody>
      </p:sp>
    </p:spTree>
    <p:extLst>
      <p:ext uri="{BB962C8B-B14F-4D97-AF65-F5344CB8AC3E}">
        <p14:creationId xmlns:p14="http://schemas.microsoft.com/office/powerpoint/2010/main" val="182914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AF0D9-27FD-9446-CA33-62B0A79BF0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67BC3DB-9F79-0066-B494-741FEBC04A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4AC0D78-F026-F03B-DE15-18CCB8525BF1}"/>
              </a:ext>
            </a:extLst>
          </p:cNvPr>
          <p:cNvSpPr>
            <a:spLocks noGrp="1"/>
          </p:cNvSpPr>
          <p:nvPr>
            <p:ph type="dt" sz="half" idx="10"/>
          </p:nvPr>
        </p:nvSpPr>
        <p:spPr/>
        <p:txBody>
          <a:bodyPr/>
          <a:lstStyle/>
          <a:p>
            <a:fld id="{0824C78F-0C29-4627-A476-37F51DA32D0B}" type="datetimeFigureOut">
              <a:rPr lang="en-IN" smtClean="0"/>
              <a:t>30-05-2026</a:t>
            </a:fld>
            <a:endParaRPr lang="en-IN"/>
          </a:p>
        </p:txBody>
      </p:sp>
      <p:sp>
        <p:nvSpPr>
          <p:cNvPr id="5" name="Footer Placeholder 4">
            <a:extLst>
              <a:ext uri="{FF2B5EF4-FFF2-40B4-BE49-F238E27FC236}">
                <a16:creationId xmlns:a16="http://schemas.microsoft.com/office/drawing/2014/main" id="{AD08210D-263B-380F-B363-C62F04D49A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46E672-0671-4096-42E4-24BD96EC96C5}"/>
              </a:ext>
            </a:extLst>
          </p:cNvPr>
          <p:cNvSpPr>
            <a:spLocks noGrp="1"/>
          </p:cNvSpPr>
          <p:nvPr>
            <p:ph type="sldNum" sz="quarter" idx="12"/>
          </p:nvPr>
        </p:nvSpPr>
        <p:spPr/>
        <p:txBody>
          <a:bodyPr/>
          <a:lstStyle/>
          <a:p>
            <a:fld id="{9532CCD7-18C1-47A9-AA50-7604AB20E176}" type="slidenum">
              <a:rPr lang="en-IN" smtClean="0"/>
              <a:t>‹#›</a:t>
            </a:fld>
            <a:endParaRPr lang="en-IN"/>
          </a:p>
        </p:txBody>
      </p:sp>
    </p:spTree>
    <p:extLst>
      <p:ext uri="{BB962C8B-B14F-4D97-AF65-F5344CB8AC3E}">
        <p14:creationId xmlns:p14="http://schemas.microsoft.com/office/powerpoint/2010/main" val="1976187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A8CA6-5A20-9F30-27D7-E4806EFA5AE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29EEF9-B3B2-C886-8627-A7454EC8F4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21C07F-06E8-3917-CAAF-AD1445C5D234}"/>
              </a:ext>
            </a:extLst>
          </p:cNvPr>
          <p:cNvSpPr>
            <a:spLocks noGrp="1"/>
          </p:cNvSpPr>
          <p:nvPr>
            <p:ph type="dt" sz="half" idx="10"/>
          </p:nvPr>
        </p:nvSpPr>
        <p:spPr/>
        <p:txBody>
          <a:bodyPr/>
          <a:lstStyle/>
          <a:p>
            <a:fld id="{0824C78F-0C29-4627-A476-37F51DA32D0B}" type="datetimeFigureOut">
              <a:rPr lang="en-IN" smtClean="0"/>
              <a:t>30-05-2026</a:t>
            </a:fld>
            <a:endParaRPr lang="en-IN"/>
          </a:p>
        </p:txBody>
      </p:sp>
      <p:sp>
        <p:nvSpPr>
          <p:cNvPr id="5" name="Footer Placeholder 4">
            <a:extLst>
              <a:ext uri="{FF2B5EF4-FFF2-40B4-BE49-F238E27FC236}">
                <a16:creationId xmlns:a16="http://schemas.microsoft.com/office/drawing/2014/main" id="{67FF0309-0651-4D50-6569-45AE99DEE4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58A90A-2B31-5849-4785-61BB7C7CDDAC}"/>
              </a:ext>
            </a:extLst>
          </p:cNvPr>
          <p:cNvSpPr>
            <a:spLocks noGrp="1"/>
          </p:cNvSpPr>
          <p:nvPr>
            <p:ph type="sldNum" sz="quarter" idx="12"/>
          </p:nvPr>
        </p:nvSpPr>
        <p:spPr/>
        <p:txBody>
          <a:bodyPr/>
          <a:lstStyle/>
          <a:p>
            <a:fld id="{9532CCD7-18C1-47A9-AA50-7604AB20E176}" type="slidenum">
              <a:rPr lang="en-IN" smtClean="0"/>
              <a:t>‹#›</a:t>
            </a:fld>
            <a:endParaRPr lang="en-IN"/>
          </a:p>
        </p:txBody>
      </p:sp>
    </p:spTree>
    <p:extLst>
      <p:ext uri="{BB962C8B-B14F-4D97-AF65-F5344CB8AC3E}">
        <p14:creationId xmlns:p14="http://schemas.microsoft.com/office/powerpoint/2010/main" val="1675809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A593F-7160-D439-C896-219B53A3A2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4857102-1E04-E424-98F1-9D83757DAF7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9BCED25-1776-92BE-ECE0-B57E130FF4D3}"/>
              </a:ext>
            </a:extLst>
          </p:cNvPr>
          <p:cNvSpPr>
            <a:spLocks noGrp="1"/>
          </p:cNvSpPr>
          <p:nvPr>
            <p:ph type="dt" sz="half" idx="10"/>
          </p:nvPr>
        </p:nvSpPr>
        <p:spPr/>
        <p:txBody>
          <a:bodyPr/>
          <a:lstStyle/>
          <a:p>
            <a:fld id="{0824C78F-0C29-4627-A476-37F51DA32D0B}" type="datetimeFigureOut">
              <a:rPr lang="en-IN" smtClean="0"/>
              <a:t>30-05-2026</a:t>
            </a:fld>
            <a:endParaRPr lang="en-IN"/>
          </a:p>
        </p:txBody>
      </p:sp>
      <p:sp>
        <p:nvSpPr>
          <p:cNvPr id="5" name="Footer Placeholder 4">
            <a:extLst>
              <a:ext uri="{FF2B5EF4-FFF2-40B4-BE49-F238E27FC236}">
                <a16:creationId xmlns:a16="http://schemas.microsoft.com/office/drawing/2014/main" id="{25DA0656-AB52-1DA0-F7B1-811853EAEC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B198CD-894E-8B65-8D29-28F0325840E2}"/>
              </a:ext>
            </a:extLst>
          </p:cNvPr>
          <p:cNvSpPr>
            <a:spLocks noGrp="1"/>
          </p:cNvSpPr>
          <p:nvPr>
            <p:ph type="sldNum" sz="quarter" idx="12"/>
          </p:nvPr>
        </p:nvSpPr>
        <p:spPr/>
        <p:txBody>
          <a:bodyPr/>
          <a:lstStyle/>
          <a:p>
            <a:fld id="{9532CCD7-18C1-47A9-AA50-7604AB20E176}" type="slidenum">
              <a:rPr lang="en-IN" smtClean="0"/>
              <a:t>‹#›</a:t>
            </a:fld>
            <a:endParaRPr lang="en-IN"/>
          </a:p>
        </p:txBody>
      </p:sp>
    </p:spTree>
    <p:extLst>
      <p:ext uri="{BB962C8B-B14F-4D97-AF65-F5344CB8AC3E}">
        <p14:creationId xmlns:p14="http://schemas.microsoft.com/office/powerpoint/2010/main" val="979197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FCCB9-8D84-E2ED-D8AF-DEA68E62D8E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51DC104-11BD-70ED-6462-2075E4E210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4B8565A-B65D-4FDE-5A01-902A48525E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8288C0C-A74B-F475-7EE7-021FD9B909B3}"/>
              </a:ext>
            </a:extLst>
          </p:cNvPr>
          <p:cNvSpPr>
            <a:spLocks noGrp="1"/>
          </p:cNvSpPr>
          <p:nvPr>
            <p:ph type="dt" sz="half" idx="10"/>
          </p:nvPr>
        </p:nvSpPr>
        <p:spPr/>
        <p:txBody>
          <a:bodyPr/>
          <a:lstStyle/>
          <a:p>
            <a:fld id="{0824C78F-0C29-4627-A476-37F51DA32D0B}" type="datetimeFigureOut">
              <a:rPr lang="en-IN" smtClean="0"/>
              <a:t>30-05-2026</a:t>
            </a:fld>
            <a:endParaRPr lang="en-IN"/>
          </a:p>
        </p:txBody>
      </p:sp>
      <p:sp>
        <p:nvSpPr>
          <p:cNvPr id="6" name="Footer Placeholder 5">
            <a:extLst>
              <a:ext uri="{FF2B5EF4-FFF2-40B4-BE49-F238E27FC236}">
                <a16:creationId xmlns:a16="http://schemas.microsoft.com/office/drawing/2014/main" id="{65A68EC8-FAC3-41F5-4703-3B316F790DC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025D1B-42A9-3AD4-0C59-FE6936186BEC}"/>
              </a:ext>
            </a:extLst>
          </p:cNvPr>
          <p:cNvSpPr>
            <a:spLocks noGrp="1"/>
          </p:cNvSpPr>
          <p:nvPr>
            <p:ph type="sldNum" sz="quarter" idx="12"/>
          </p:nvPr>
        </p:nvSpPr>
        <p:spPr/>
        <p:txBody>
          <a:bodyPr/>
          <a:lstStyle/>
          <a:p>
            <a:fld id="{9532CCD7-18C1-47A9-AA50-7604AB20E176}" type="slidenum">
              <a:rPr lang="en-IN" smtClean="0"/>
              <a:t>‹#›</a:t>
            </a:fld>
            <a:endParaRPr lang="en-IN"/>
          </a:p>
        </p:txBody>
      </p:sp>
    </p:spTree>
    <p:extLst>
      <p:ext uri="{BB962C8B-B14F-4D97-AF65-F5344CB8AC3E}">
        <p14:creationId xmlns:p14="http://schemas.microsoft.com/office/powerpoint/2010/main" val="9161279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F9ED-4F08-3658-C13B-3E95CD1BCAA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C08290B-FAD9-5FE6-DE75-BE081CA9F0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3BC2E6-C149-0EB4-7432-7350C7AF80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2083FAC-C147-27CB-A1F8-3FC773331A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9771C4-9B50-1C2A-93B8-AC984BB34E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BF3CF6-AA0B-5BD5-7D7B-D2064A2CDD32}"/>
              </a:ext>
            </a:extLst>
          </p:cNvPr>
          <p:cNvSpPr>
            <a:spLocks noGrp="1"/>
          </p:cNvSpPr>
          <p:nvPr>
            <p:ph type="dt" sz="half" idx="10"/>
          </p:nvPr>
        </p:nvSpPr>
        <p:spPr/>
        <p:txBody>
          <a:bodyPr/>
          <a:lstStyle/>
          <a:p>
            <a:fld id="{0824C78F-0C29-4627-A476-37F51DA32D0B}" type="datetimeFigureOut">
              <a:rPr lang="en-IN" smtClean="0"/>
              <a:t>30-05-2026</a:t>
            </a:fld>
            <a:endParaRPr lang="en-IN"/>
          </a:p>
        </p:txBody>
      </p:sp>
      <p:sp>
        <p:nvSpPr>
          <p:cNvPr id="8" name="Footer Placeholder 7">
            <a:extLst>
              <a:ext uri="{FF2B5EF4-FFF2-40B4-BE49-F238E27FC236}">
                <a16:creationId xmlns:a16="http://schemas.microsoft.com/office/drawing/2014/main" id="{46EF5676-A323-D0B5-74B5-26FEDD315D9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5E84882-58AF-03EA-7D2C-8DC7C0FF4232}"/>
              </a:ext>
            </a:extLst>
          </p:cNvPr>
          <p:cNvSpPr>
            <a:spLocks noGrp="1"/>
          </p:cNvSpPr>
          <p:nvPr>
            <p:ph type="sldNum" sz="quarter" idx="12"/>
          </p:nvPr>
        </p:nvSpPr>
        <p:spPr/>
        <p:txBody>
          <a:bodyPr/>
          <a:lstStyle/>
          <a:p>
            <a:fld id="{9532CCD7-18C1-47A9-AA50-7604AB20E176}" type="slidenum">
              <a:rPr lang="en-IN" smtClean="0"/>
              <a:t>‹#›</a:t>
            </a:fld>
            <a:endParaRPr lang="en-IN"/>
          </a:p>
        </p:txBody>
      </p:sp>
    </p:spTree>
    <p:extLst>
      <p:ext uri="{BB962C8B-B14F-4D97-AF65-F5344CB8AC3E}">
        <p14:creationId xmlns:p14="http://schemas.microsoft.com/office/powerpoint/2010/main" val="20109186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BAA48-F391-C004-1DB6-C76CCAC14BE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C21B741-FEF5-5B7B-FCA6-EBA4ACE4905F}"/>
              </a:ext>
            </a:extLst>
          </p:cNvPr>
          <p:cNvSpPr>
            <a:spLocks noGrp="1"/>
          </p:cNvSpPr>
          <p:nvPr>
            <p:ph type="dt" sz="half" idx="10"/>
          </p:nvPr>
        </p:nvSpPr>
        <p:spPr/>
        <p:txBody>
          <a:bodyPr/>
          <a:lstStyle/>
          <a:p>
            <a:fld id="{0824C78F-0C29-4627-A476-37F51DA32D0B}" type="datetimeFigureOut">
              <a:rPr lang="en-IN" smtClean="0"/>
              <a:t>30-05-2026</a:t>
            </a:fld>
            <a:endParaRPr lang="en-IN"/>
          </a:p>
        </p:txBody>
      </p:sp>
      <p:sp>
        <p:nvSpPr>
          <p:cNvPr id="4" name="Footer Placeholder 3">
            <a:extLst>
              <a:ext uri="{FF2B5EF4-FFF2-40B4-BE49-F238E27FC236}">
                <a16:creationId xmlns:a16="http://schemas.microsoft.com/office/drawing/2014/main" id="{B22D5626-AF11-2CFB-870E-7147F1ABBD9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A280A2D-2EDF-62B9-1022-D68B31A4E4FA}"/>
              </a:ext>
            </a:extLst>
          </p:cNvPr>
          <p:cNvSpPr>
            <a:spLocks noGrp="1"/>
          </p:cNvSpPr>
          <p:nvPr>
            <p:ph type="sldNum" sz="quarter" idx="12"/>
          </p:nvPr>
        </p:nvSpPr>
        <p:spPr/>
        <p:txBody>
          <a:bodyPr/>
          <a:lstStyle/>
          <a:p>
            <a:fld id="{9532CCD7-18C1-47A9-AA50-7604AB20E176}" type="slidenum">
              <a:rPr lang="en-IN" smtClean="0"/>
              <a:t>‹#›</a:t>
            </a:fld>
            <a:endParaRPr lang="en-IN"/>
          </a:p>
        </p:txBody>
      </p:sp>
    </p:spTree>
    <p:extLst>
      <p:ext uri="{BB962C8B-B14F-4D97-AF65-F5344CB8AC3E}">
        <p14:creationId xmlns:p14="http://schemas.microsoft.com/office/powerpoint/2010/main" val="7499834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93196F-976B-967B-A410-75A1DE2D9334}"/>
              </a:ext>
            </a:extLst>
          </p:cNvPr>
          <p:cNvSpPr>
            <a:spLocks noGrp="1"/>
          </p:cNvSpPr>
          <p:nvPr>
            <p:ph type="dt" sz="half" idx="10"/>
          </p:nvPr>
        </p:nvSpPr>
        <p:spPr/>
        <p:txBody>
          <a:bodyPr/>
          <a:lstStyle/>
          <a:p>
            <a:fld id="{0824C78F-0C29-4627-A476-37F51DA32D0B}" type="datetimeFigureOut">
              <a:rPr lang="en-IN" smtClean="0"/>
              <a:t>30-05-2026</a:t>
            </a:fld>
            <a:endParaRPr lang="en-IN"/>
          </a:p>
        </p:txBody>
      </p:sp>
      <p:sp>
        <p:nvSpPr>
          <p:cNvPr id="3" name="Footer Placeholder 2">
            <a:extLst>
              <a:ext uri="{FF2B5EF4-FFF2-40B4-BE49-F238E27FC236}">
                <a16:creationId xmlns:a16="http://schemas.microsoft.com/office/drawing/2014/main" id="{2437C5DF-F15A-8F63-3563-AC64DCAF761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B0D1DFE-78D5-AE6D-0595-0A6A7F98DA41}"/>
              </a:ext>
            </a:extLst>
          </p:cNvPr>
          <p:cNvSpPr>
            <a:spLocks noGrp="1"/>
          </p:cNvSpPr>
          <p:nvPr>
            <p:ph type="sldNum" sz="quarter" idx="12"/>
          </p:nvPr>
        </p:nvSpPr>
        <p:spPr/>
        <p:txBody>
          <a:bodyPr/>
          <a:lstStyle/>
          <a:p>
            <a:fld id="{9532CCD7-18C1-47A9-AA50-7604AB20E176}" type="slidenum">
              <a:rPr lang="en-IN" smtClean="0"/>
              <a:t>‹#›</a:t>
            </a:fld>
            <a:endParaRPr lang="en-IN"/>
          </a:p>
        </p:txBody>
      </p:sp>
    </p:spTree>
    <p:extLst>
      <p:ext uri="{BB962C8B-B14F-4D97-AF65-F5344CB8AC3E}">
        <p14:creationId xmlns:p14="http://schemas.microsoft.com/office/powerpoint/2010/main" val="3386795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2AF0B-6EDC-5198-710B-1074374453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B0DCABD-4DF4-6E27-53A6-D4D6ECF268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311C4CC-A9FE-8F00-4EAD-CF20F9C887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1DF085-C7B6-CAF3-E182-C44F24C42E4E}"/>
              </a:ext>
            </a:extLst>
          </p:cNvPr>
          <p:cNvSpPr>
            <a:spLocks noGrp="1"/>
          </p:cNvSpPr>
          <p:nvPr>
            <p:ph type="dt" sz="half" idx="10"/>
          </p:nvPr>
        </p:nvSpPr>
        <p:spPr/>
        <p:txBody>
          <a:bodyPr/>
          <a:lstStyle/>
          <a:p>
            <a:fld id="{0824C78F-0C29-4627-A476-37F51DA32D0B}" type="datetimeFigureOut">
              <a:rPr lang="en-IN" smtClean="0"/>
              <a:t>30-05-2026</a:t>
            </a:fld>
            <a:endParaRPr lang="en-IN"/>
          </a:p>
        </p:txBody>
      </p:sp>
      <p:sp>
        <p:nvSpPr>
          <p:cNvPr id="6" name="Footer Placeholder 5">
            <a:extLst>
              <a:ext uri="{FF2B5EF4-FFF2-40B4-BE49-F238E27FC236}">
                <a16:creationId xmlns:a16="http://schemas.microsoft.com/office/drawing/2014/main" id="{44143129-F3A4-4E95-D59E-D741284554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89C287-A1D7-71DD-BEF0-8EF8038ADAFE}"/>
              </a:ext>
            </a:extLst>
          </p:cNvPr>
          <p:cNvSpPr>
            <a:spLocks noGrp="1"/>
          </p:cNvSpPr>
          <p:nvPr>
            <p:ph type="sldNum" sz="quarter" idx="12"/>
          </p:nvPr>
        </p:nvSpPr>
        <p:spPr/>
        <p:txBody>
          <a:bodyPr/>
          <a:lstStyle/>
          <a:p>
            <a:fld id="{9532CCD7-18C1-47A9-AA50-7604AB20E176}" type="slidenum">
              <a:rPr lang="en-IN" smtClean="0"/>
              <a:t>‹#›</a:t>
            </a:fld>
            <a:endParaRPr lang="en-IN"/>
          </a:p>
        </p:txBody>
      </p:sp>
    </p:spTree>
    <p:extLst>
      <p:ext uri="{BB962C8B-B14F-4D97-AF65-F5344CB8AC3E}">
        <p14:creationId xmlns:p14="http://schemas.microsoft.com/office/powerpoint/2010/main" val="388797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D7544-F2D7-FA41-7A32-2FF9489BBF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3DFDFAF-C85C-0A12-6B11-A705B97284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1D53E81-9ADF-19A8-AC49-3F2BA7DBCC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376C59-BA75-590B-8D97-2AC5B5A2010E}"/>
              </a:ext>
            </a:extLst>
          </p:cNvPr>
          <p:cNvSpPr>
            <a:spLocks noGrp="1"/>
          </p:cNvSpPr>
          <p:nvPr>
            <p:ph type="dt" sz="half" idx="10"/>
          </p:nvPr>
        </p:nvSpPr>
        <p:spPr/>
        <p:txBody>
          <a:bodyPr/>
          <a:lstStyle/>
          <a:p>
            <a:fld id="{0824C78F-0C29-4627-A476-37F51DA32D0B}" type="datetimeFigureOut">
              <a:rPr lang="en-IN" smtClean="0"/>
              <a:t>30-05-2026</a:t>
            </a:fld>
            <a:endParaRPr lang="en-IN"/>
          </a:p>
        </p:txBody>
      </p:sp>
      <p:sp>
        <p:nvSpPr>
          <p:cNvPr id="6" name="Footer Placeholder 5">
            <a:extLst>
              <a:ext uri="{FF2B5EF4-FFF2-40B4-BE49-F238E27FC236}">
                <a16:creationId xmlns:a16="http://schemas.microsoft.com/office/drawing/2014/main" id="{8EF34585-D922-DE19-2FE6-C6A1BC6DA37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6A959E2-C8B5-78E2-B07F-6066670CB584}"/>
              </a:ext>
            </a:extLst>
          </p:cNvPr>
          <p:cNvSpPr>
            <a:spLocks noGrp="1"/>
          </p:cNvSpPr>
          <p:nvPr>
            <p:ph type="sldNum" sz="quarter" idx="12"/>
          </p:nvPr>
        </p:nvSpPr>
        <p:spPr/>
        <p:txBody>
          <a:bodyPr/>
          <a:lstStyle/>
          <a:p>
            <a:fld id="{9532CCD7-18C1-47A9-AA50-7604AB20E176}" type="slidenum">
              <a:rPr lang="en-IN" smtClean="0"/>
              <a:t>‹#›</a:t>
            </a:fld>
            <a:endParaRPr lang="en-IN"/>
          </a:p>
        </p:txBody>
      </p:sp>
    </p:spTree>
    <p:extLst>
      <p:ext uri="{BB962C8B-B14F-4D97-AF65-F5344CB8AC3E}">
        <p14:creationId xmlns:p14="http://schemas.microsoft.com/office/powerpoint/2010/main" val="3748948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9825A-B62C-7C4C-5966-D7D1967AF58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F182944-6EC2-8A7C-3061-65868CA0FE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D5CF51-B9BB-66D7-1291-40E5C32E7D18}"/>
              </a:ext>
            </a:extLst>
          </p:cNvPr>
          <p:cNvSpPr>
            <a:spLocks noGrp="1"/>
          </p:cNvSpPr>
          <p:nvPr>
            <p:ph type="dt" sz="half" idx="10"/>
          </p:nvPr>
        </p:nvSpPr>
        <p:spPr/>
        <p:txBody>
          <a:bodyPr/>
          <a:lstStyle/>
          <a:p>
            <a:fld id="{0824C78F-0C29-4627-A476-37F51DA32D0B}" type="datetimeFigureOut">
              <a:rPr lang="en-IN" smtClean="0"/>
              <a:t>30-05-2026</a:t>
            </a:fld>
            <a:endParaRPr lang="en-IN"/>
          </a:p>
        </p:txBody>
      </p:sp>
      <p:sp>
        <p:nvSpPr>
          <p:cNvPr id="5" name="Footer Placeholder 4">
            <a:extLst>
              <a:ext uri="{FF2B5EF4-FFF2-40B4-BE49-F238E27FC236}">
                <a16:creationId xmlns:a16="http://schemas.microsoft.com/office/drawing/2014/main" id="{CD528F9C-567C-A6BF-D4D8-4D4B342284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71E917-6334-6FB9-E6D7-1E2C62A112AD}"/>
              </a:ext>
            </a:extLst>
          </p:cNvPr>
          <p:cNvSpPr>
            <a:spLocks noGrp="1"/>
          </p:cNvSpPr>
          <p:nvPr>
            <p:ph type="sldNum" sz="quarter" idx="12"/>
          </p:nvPr>
        </p:nvSpPr>
        <p:spPr/>
        <p:txBody>
          <a:bodyPr/>
          <a:lstStyle/>
          <a:p>
            <a:fld id="{9532CCD7-18C1-47A9-AA50-7604AB20E176}" type="slidenum">
              <a:rPr lang="en-IN" smtClean="0"/>
              <a:t>‹#›</a:t>
            </a:fld>
            <a:endParaRPr lang="en-IN"/>
          </a:p>
        </p:txBody>
      </p:sp>
    </p:spTree>
    <p:extLst>
      <p:ext uri="{BB962C8B-B14F-4D97-AF65-F5344CB8AC3E}">
        <p14:creationId xmlns:p14="http://schemas.microsoft.com/office/powerpoint/2010/main" val="2632084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2EB27C-E740-3F92-F7B7-A688DA0A551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DA7CFA-0771-E08D-4FFA-9446692FC1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779697-8089-1264-BB2D-A2B25505A6F2}"/>
              </a:ext>
            </a:extLst>
          </p:cNvPr>
          <p:cNvSpPr>
            <a:spLocks noGrp="1"/>
          </p:cNvSpPr>
          <p:nvPr>
            <p:ph type="dt" sz="half" idx="10"/>
          </p:nvPr>
        </p:nvSpPr>
        <p:spPr/>
        <p:txBody>
          <a:bodyPr/>
          <a:lstStyle/>
          <a:p>
            <a:fld id="{0824C78F-0C29-4627-A476-37F51DA32D0B}" type="datetimeFigureOut">
              <a:rPr lang="en-IN" smtClean="0"/>
              <a:t>30-05-2026</a:t>
            </a:fld>
            <a:endParaRPr lang="en-IN"/>
          </a:p>
        </p:txBody>
      </p:sp>
      <p:sp>
        <p:nvSpPr>
          <p:cNvPr id="5" name="Footer Placeholder 4">
            <a:extLst>
              <a:ext uri="{FF2B5EF4-FFF2-40B4-BE49-F238E27FC236}">
                <a16:creationId xmlns:a16="http://schemas.microsoft.com/office/drawing/2014/main" id="{0481E46D-DB71-8B1E-9DB5-8B48C8E15D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385C62-D365-E851-0AF1-8AA180008CA4}"/>
              </a:ext>
            </a:extLst>
          </p:cNvPr>
          <p:cNvSpPr>
            <a:spLocks noGrp="1"/>
          </p:cNvSpPr>
          <p:nvPr>
            <p:ph type="sldNum" sz="quarter" idx="12"/>
          </p:nvPr>
        </p:nvSpPr>
        <p:spPr/>
        <p:txBody>
          <a:bodyPr/>
          <a:lstStyle/>
          <a:p>
            <a:fld id="{9532CCD7-18C1-47A9-AA50-7604AB20E176}" type="slidenum">
              <a:rPr lang="en-IN" smtClean="0"/>
              <a:t>‹#›</a:t>
            </a:fld>
            <a:endParaRPr lang="en-IN"/>
          </a:p>
        </p:txBody>
      </p:sp>
    </p:spTree>
    <p:extLst>
      <p:ext uri="{BB962C8B-B14F-4D97-AF65-F5344CB8AC3E}">
        <p14:creationId xmlns:p14="http://schemas.microsoft.com/office/powerpoint/2010/main" val="1742219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1B073B-FC50-83CC-5D2F-CCBC4D69B7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4AB6F8F-04BE-447B-18E6-8E3D26962E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E9C944-C105-A0F5-D5BD-FEA83B7A08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24C78F-0C29-4627-A476-37F51DA32D0B}" type="datetimeFigureOut">
              <a:rPr lang="en-IN" smtClean="0"/>
              <a:t>30-05-2026</a:t>
            </a:fld>
            <a:endParaRPr lang="en-IN"/>
          </a:p>
        </p:txBody>
      </p:sp>
      <p:sp>
        <p:nvSpPr>
          <p:cNvPr id="5" name="Footer Placeholder 4">
            <a:extLst>
              <a:ext uri="{FF2B5EF4-FFF2-40B4-BE49-F238E27FC236}">
                <a16:creationId xmlns:a16="http://schemas.microsoft.com/office/drawing/2014/main" id="{9A48E5E4-9CF7-C644-BBEF-D52A0622E8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6FB3198-AA4B-975B-CF7D-FC4C6673BB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32CCD7-18C1-47A9-AA50-7604AB20E176}" type="slidenum">
              <a:rPr lang="en-IN" smtClean="0"/>
              <a:t>‹#›</a:t>
            </a:fld>
            <a:endParaRPr lang="en-IN"/>
          </a:p>
        </p:txBody>
      </p:sp>
    </p:spTree>
    <p:extLst>
      <p:ext uri="{BB962C8B-B14F-4D97-AF65-F5344CB8AC3E}">
        <p14:creationId xmlns:p14="http://schemas.microsoft.com/office/powerpoint/2010/main" val="36979599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dippusaidinesh" TargetMode="External"/><Relationship Id="rId2" Type="http://schemas.openxmlformats.org/officeDocument/2006/relationships/hyperlink" Target="https://www.linkedin.com/publicprofile/settings?trk=d_flagship3_profile_self_view_public_profil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EC063-DE72-DD45-2195-5259299F3B16}"/>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D1112985-507A-2257-C18F-E0CFD95BA320}"/>
              </a:ext>
            </a:extLst>
          </p:cNvPr>
          <p:cNvSpPr>
            <a:spLocks noGrp="1"/>
          </p:cNvSpPr>
          <p:nvPr>
            <p:ph type="subTitle" idx="1"/>
          </p:nvPr>
        </p:nvSpPr>
        <p:spPr/>
        <p:txBody>
          <a:bodyPr/>
          <a:lstStyle/>
          <a:p>
            <a:endParaRPr lang="en-IN"/>
          </a:p>
        </p:txBody>
      </p:sp>
      <p:pic>
        <p:nvPicPr>
          <p:cNvPr id="4" name="Google Shape;96;p15">
            <a:extLst>
              <a:ext uri="{FF2B5EF4-FFF2-40B4-BE49-F238E27FC236}">
                <a16:creationId xmlns:a16="http://schemas.microsoft.com/office/drawing/2014/main" id="{8ECA5237-0270-DFF4-34D4-1EC26F4BA1F0}"/>
              </a:ext>
            </a:extLst>
          </p:cNvPr>
          <p:cNvPicPr preferRelativeResize="0"/>
          <p:nvPr/>
        </p:nvPicPr>
        <p:blipFill rotWithShape="1">
          <a:blip r:embed="rId2">
            <a:alphaModFix/>
          </a:blip>
          <a:srcRect/>
          <a:stretch/>
        </p:blipFill>
        <p:spPr>
          <a:xfrm>
            <a:off x="1183" y="0"/>
            <a:ext cx="12190817" cy="6776048"/>
          </a:xfrm>
          <a:prstGeom prst="rect">
            <a:avLst/>
          </a:prstGeom>
          <a:noFill/>
          <a:ln>
            <a:noFill/>
          </a:ln>
        </p:spPr>
      </p:pic>
      <p:sp>
        <p:nvSpPr>
          <p:cNvPr id="7" name="TextBox 6">
            <a:extLst>
              <a:ext uri="{FF2B5EF4-FFF2-40B4-BE49-F238E27FC236}">
                <a16:creationId xmlns:a16="http://schemas.microsoft.com/office/drawing/2014/main" id="{A7598617-5325-B5BC-79E6-99A3291D4D6A}"/>
              </a:ext>
            </a:extLst>
          </p:cNvPr>
          <p:cNvSpPr txBox="1"/>
          <p:nvPr/>
        </p:nvSpPr>
        <p:spPr>
          <a:xfrm>
            <a:off x="8440341" y="5437091"/>
            <a:ext cx="6193630" cy="923330"/>
          </a:xfrm>
          <a:prstGeom prst="rect">
            <a:avLst/>
          </a:prstGeom>
          <a:noFill/>
        </p:spPr>
        <p:txBody>
          <a:bodyPr wrap="square">
            <a:spAutoFit/>
          </a:bodyPr>
          <a:lstStyle/>
          <a:p>
            <a:r>
              <a:rPr lang="fi-FI" sz="1800" b="1" dirty="0">
                <a:solidFill>
                  <a:schemeClr val="dk1"/>
                </a:solidFill>
                <a:latin typeface="Times New Roman" panose="02020603050405020304" pitchFamily="18" charset="0"/>
                <a:ea typeface="Roboto"/>
                <a:cs typeface="Times New Roman" panose="02020603050405020304" pitchFamily="18" charset="0"/>
                <a:sym typeface="Roboto"/>
              </a:rPr>
              <a:t>Dippu Sai Dinesh</a:t>
            </a:r>
          </a:p>
          <a:p>
            <a:r>
              <a:rPr lang="fi-FI" sz="1800" b="1" dirty="0">
                <a:solidFill>
                  <a:schemeClr val="dk1"/>
                </a:solidFill>
                <a:latin typeface="Times New Roman" panose="02020603050405020304" pitchFamily="18" charset="0"/>
                <a:ea typeface="Roboto"/>
                <a:cs typeface="Times New Roman" panose="02020603050405020304" pitchFamily="18" charset="0"/>
                <a:sym typeface="Roboto"/>
              </a:rPr>
              <a:t>Batch - 484</a:t>
            </a:r>
          </a:p>
          <a:p>
            <a:endParaRPr lang="fi-FI" sz="1800" b="1" dirty="0">
              <a:solidFill>
                <a:schemeClr val="dk1"/>
              </a:solidFill>
              <a:latin typeface="Times New Roman" panose="02020603050405020304" pitchFamily="18" charset="0"/>
              <a:ea typeface="Roboto"/>
              <a:cs typeface="Times New Roman" panose="02020603050405020304" pitchFamily="18" charset="0"/>
              <a:sym typeface="Roboto"/>
            </a:endParaRPr>
          </a:p>
        </p:txBody>
      </p:sp>
      <p:sp>
        <p:nvSpPr>
          <p:cNvPr id="11" name="TextBox 10">
            <a:extLst>
              <a:ext uri="{FF2B5EF4-FFF2-40B4-BE49-F238E27FC236}">
                <a16:creationId xmlns:a16="http://schemas.microsoft.com/office/drawing/2014/main" id="{FB1B82F2-E27C-DCF9-B33A-77243A56BEF1}"/>
              </a:ext>
            </a:extLst>
          </p:cNvPr>
          <p:cNvSpPr txBox="1"/>
          <p:nvPr/>
        </p:nvSpPr>
        <p:spPr>
          <a:xfrm>
            <a:off x="2438400" y="3767012"/>
            <a:ext cx="7315200" cy="400110"/>
          </a:xfrm>
          <a:prstGeom prst="rect">
            <a:avLst/>
          </a:prstGeom>
          <a:noFill/>
        </p:spPr>
        <p:txBody>
          <a:bodyPr wrap="square">
            <a:spAutoFit/>
          </a:bodyPr>
          <a:lstStyle/>
          <a:p>
            <a:pPr algn="ctr">
              <a:buClr>
                <a:srgbClr val="000000"/>
              </a:buClr>
              <a:buSzPts val="1800"/>
            </a:pPr>
            <a:r>
              <a:rPr lang="en-IN" sz="2000" b="1" dirty="0">
                <a:highlight>
                  <a:srgbClr val="F8FAFD"/>
                </a:highlight>
                <a:latin typeface="Times New Roman" panose="02020603050405020304" pitchFamily="18" charset="0"/>
                <a:cs typeface="Times New Roman" panose="02020603050405020304" pitchFamily="18" charset="0"/>
              </a:rPr>
              <a:t>Zomato Restaurant Analysis</a:t>
            </a:r>
            <a:endParaRPr lang="en-IN" sz="2000" b="1" dirty="0">
              <a:solidFill>
                <a:schemeClr val="dk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891976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C3929-C786-1633-8D77-2512D96AC8E5}"/>
              </a:ext>
            </a:extLst>
          </p:cNvPr>
          <p:cNvSpPr>
            <a:spLocks noGrp="1"/>
          </p:cNvSpPr>
          <p:nvPr>
            <p:ph type="title"/>
          </p:nvPr>
        </p:nvSpPr>
        <p:spPr>
          <a:xfrm flipV="1">
            <a:off x="12901611" y="1971674"/>
            <a:ext cx="514351" cy="114300"/>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CAAC2BED-D09C-26D6-9ED2-4E73F986F3C5}"/>
              </a:ext>
            </a:extLst>
          </p:cNvPr>
          <p:cNvSpPr>
            <a:spLocks noGrp="1"/>
          </p:cNvSpPr>
          <p:nvPr>
            <p:ph idx="1"/>
          </p:nvPr>
        </p:nvSpPr>
        <p:spPr>
          <a:xfrm flipH="1" flipV="1">
            <a:off x="13558837" y="6176962"/>
            <a:ext cx="428624" cy="223837"/>
          </a:xfrm>
        </p:spPr>
        <p:txBody>
          <a:bodyPr>
            <a:normAutofit fontScale="40000" lnSpcReduction="20000"/>
          </a:bodyPr>
          <a:lstStyle/>
          <a:p>
            <a:pPr marL="0" indent="0">
              <a:buNone/>
            </a:pPr>
            <a:endParaRPr lang="en-IN" dirty="0"/>
          </a:p>
        </p:txBody>
      </p:sp>
      <p:sp>
        <p:nvSpPr>
          <p:cNvPr id="8" name="Google Shape;103;p16">
            <a:extLst>
              <a:ext uri="{FF2B5EF4-FFF2-40B4-BE49-F238E27FC236}">
                <a16:creationId xmlns:a16="http://schemas.microsoft.com/office/drawing/2014/main" id="{4C1CC2DB-362D-4760-5DCE-46048B682158}"/>
              </a:ext>
            </a:extLst>
          </p:cNvPr>
          <p:cNvSpPr txBox="1"/>
          <p:nvPr/>
        </p:nvSpPr>
        <p:spPr>
          <a:xfrm>
            <a:off x="942007" y="1627779"/>
            <a:ext cx="8514400" cy="4092747"/>
          </a:xfrm>
          <a:prstGeom prst="rect">
            <a:avLst/>
          </a:prstGeom>
          <a:noFill/>
          <a:ln>
            <a:noFill/>
          </a:ln>
        </p:spPr>
        <p:txBody>
          <a:bodyPr spcFirstLastPara="1" wrap="square" lIns="91400" tIns="45700" rIns="91400" bIns="45700" anchor="t" anchorCtr="0">
            <a:spAutoFit/>
          </a:bodyPr>
          <a:lstStyle/>
          <a:p>
            <a:pPr marL="609585" indent="-414856">
              <a:lnSpc>
                <a:spcPct val="150000"/>
              </a:lnSpc>
              <a:buClr>
                <a:schemeClr val="dk1"/>
              </a:buClr>
              <a:buSzPts val="1300"/>
              <a:buFont typeface="Calibri"/>
              <a:buChar char="•"/>
            </a:pPr>
            <a:r>
              <a:rPr lang="en-US" sz="1733" dirty="0">
                <a:solidFill>
                  <a:schemeClr val="dk1"/>
                </a:solidFill>
                <a:latin typeface="Times New Roman"/>
                <a:ea typeface="Times New Roman"/>
                <a:cs typeface="Times New Roman"/>
                <a:sym typeface="Times New Roman"/>
              </a:rPr>
              <a:t>I am a recent MBA graduate.</a:t>
            </a:r>
            <a:endParaRPr sz="1733" dirty="0">
              <a:solidFill>
                <a:schemeClr val="dk1"/>
              </a:solidFill>
              <a:latin typeface="Times New Roman"/>
              <a:ea typeface="Times New Roman"/>
              <a:cs typeface="Times New Roman"/>
              <a:sym typeface="Times New Roman"/>
            </a:endParaRPr>
          </a:p>
          <a:p>
            <a:pPr marL="609585" indent="-414856">
              <a:lnSpc>
                <a:spcPct val="150000"/>
              </a:lnSpc>
              <a:buClr>
                <a:schemeClr val="dk1"/>
              </a:buClr>
              <a:buSzPts val="1300"/>
              <a:buFont typeface="Calibri"/>
              <a:buChar char="•"/>
            </a:pPr>
            <a:r>
              <a:rPr lang="en-US" sz="1733" dirty="0">
                <a:solidFill>
                  <a:schemeClr val="dk1"/>
                </a:solidFill>
                <a:latin typeface="Times New Roman"/>
                <a:ea typeface="Times New Roman"/>
                <a:cs typeface="Times New Roman"/>
                <a:sym typeface="Times New Roman"/>
              </a:rPr>
              <a:t>I want to be a Data Analyst because I like working with data to solve business problems and support smarter decision-making. My MBA and operations experience helped me understand the importance of data-driven insights.</a:t>
            </a:r>
            <a:endParaRPr sz="1733" dirty="0">
              <a:solidFill>
                <a:schemeClr val="dk1"/>
              </a:solidFill>
              <a:latin typeface="Times New Roman"/>
              <a:ea typeface="Times New Roman"/>
              <a:cs typeface="Times New Roman"/>
              <a:sym typeface="Times New Roman"/>
            </a:endParaRPr>
          </a:p>
          <a:p>
            <a:pPr marL="609585" indent="-414856">
              <a:lnSpc>
                <a:spcPct val="150000"/>
              </a:lnSpc>
              <a:buClr>
                <a:schemeClr val="dk1"/>
              </a:buClr>
              <a:buSzPts val="1300"/>
              <a:buFont typeface="Calibri"/>
              <a:buChar char="•"/>
            </a:pPr>
            <a:r>
              <a:rPr lang="en-US" sz="1733" b="1" dirty="0">
                <a:solidFill>
                  <a:schemeClr val="dk1"/>
                </a:solidFill>
                <a:latin typeface="Times New Roman"/>
                <a:ea typeface="Times New Roman"/>
                <a:cs typeface="Times New Roman"/>
                <a:sym typeface="Times New Roman"/>
              </a:rPr>
              <a:t>LinkedIn :</a:t>
            </a:r>
            <a:r>
              <a:rPr lang="en-US" sz="1733" b="1" dirty="0">
                <a:solidFill>
                  <a:schemeClr val="dk1"/>
                </a:solidFill>
                <a:uFill>
                  <a:noFill/>
                </a:uFill>
                <a:latin typeface="Times New Roman"/>
                <a:ea typeface="Times New Roman"/>
                <a:cs typeface="Times New Roman"/>
                <a:sym typeface="Times New Roman"/>
                <a:hlinkClick r:id="rId2">
                  <a:extLst>
                    <a:ext uri="{A12FA001-AC4F-418D-AE19-62706E023703}">
                      <ahyp:hlinkClr xmlns:ahyp="http://schemas.microsoft.com/office/drawing/2018/hyperlinkcolor" val="tx"/>
                    </a:ext>
                  </a:extLst>
                </a:hlinkClick>
              </a:rPr>
              <a:t> </a:t>
            </a:r>
            <a:r>
              <a:rPr lang="en-US" sz="1733" u="sng" dirty="0">
                <a:solidFill>
                  <a:schemeClr val="hlink"/>
                </a:solidFill>
                <a:latin typeface="Times New Roman"/>
                <a:ea typeface="Times New Roman"/>
                <a:cs typeface="Times New Roman"/>
                <a:sym typeface="Times New Roman"/>
                <a:hlinkClick r:id="rId2"/>
              </a:rPr>
              <a:t>https://www.linkedin.com/publicprofile/settings?trk=d_flagship3_profile_self_view_public_profile</a:t>
            </a:r>
            <a:endParaRPr sz="1733" u="sng" dirty="0">
              <a:solidFill>
                <a:schemeClr val="hlink"/>
              </a:solidFill>
              <a:latin typeface="Times New Roman"/>
              <a:ea typeface="Times New Roman"/>
              <a:cs typeface="Times New Roman"/>
              <a:sym typeface="Times New Roman"/>
            </a:endParaRPr>
          </a:p>
          <a:p>
            <a:pPr marL="609585" indent="-414856">
              <a:lnSpc>
                <a:spcPct val="150000"/>
              </a:lnSpc>
              <a:buClr>
                <a:schemeClr val="dk1"/>
              </a:buClr>
              <a:buSzPts val="1300"/>
              <a:buFont typeface="Calibri"/>
              <a:buChar char="•"/>
            </a:pPr>
            <a:r>
              <a:rPr lang="en-US" sz="1733" b="1" dirty="0" err="1">
                <a:solidFill>
                  <a:schemeClr val="dk1"/>
                </a:solidFill>
                <a:latin typeface="Times New Roman"/>
                <a:ea typeface="Times New Roman"/>
                <a:cs typeface="Times New Roman"/>
                <a:sym typeface="Times New Roman"/>
              </a:rPr>
              <a:t>Github</a:t>
            </a:r>
            <a:r>
              <a:rPr lang="en-US" sz="1733" b="1" dirty="0">
                <a:solidFill>
                  <a:schemeClr val="dk1"/>
                </a:solidFill>
                <a:latin typeface="Times New Roman"/>
                <a:ea typeface="Times New Roman"/>
                <a:cs typeface="Times New Roman"/>
                <a:sym typeface="Times New Roman"/>
              </a:rPr>
              <a:t> : </a:t>
            </a:r>
            <a:r>
              <a:rPr lang="en-US" sz="1733" dirty="0">
                <a:solidFill>
                  <a:schemeClr val="dk1"/>
                </a:solidFill>
                <a:latin typeface="Times New Roman"/>
                <a:ea typeface="Times New Roman"/>
                <a:cs typeface="Times New Roman"/>
                <a:sym typeface="Times New Roman"/>
                <a:hlinkClick r:id="rId3"/>
              </a:rPr>
              <a:t>https://github.com/dippusaidinesh</a:t>
            </a:r>
            <a:endParaRPr lang="en-US" sz="1733" dirty="0">
              <a:solidFill>
                <a:schemeClr val="dk1"/>
              </a:solidFill>
              <a:latin typeface="Times New Roman"/>
              <a:ea typeface="Times New Roman"/>
              <a:cs typeface="Times New Roman"/>
              <a:sym typeface="Times New Roman"/>
            </a:endParaRPr>
          </a:p>
          <a:p>
            <a:pPr marL="609585" indent="-414856">
              <a:lnSpc>
                <a:spcPct val="150000"/>
              </a:lnSpc>
              <a:buClr>
                <a:schemeClr val="dk1"/>
              </a:buClr>
              <a:buSzPts val="1300"/>
              <a:buFont typeface="Calibri"/>
              <a:buChar char="•"/>
            </a:pPr>
            <a:endParaRPr sz="1733" dirty="0">
              <a:solidFill>
                <a:schemeClr val="dk1"/>
              </a:solidFill>
              <a:latin typeface="Times New Roman"/>
              <a:ea typeface="Times New Roman"/>
              <a:cs typeface="Times New Roman"/>
              <a:sym typeface="Times New Roman"/>
            </a:endParaRPr>
          </a:p>
          <a:p>
            <a:pPr marL="609585">
              <a:lnSpc>
                <a:spcPct val="150000"/>
              </a:lnSpc>
            </a:pPr>
            <a:endParaRPr sz="1733" b="1" dirty="0">
              <a:solidFill>
                <a:schemeClr val="dk1"/>
              </a:solidFill>
              <a:latin typeface="Calibri"/>
              <a:ea typeface="Calibri"/>
              <a:cs typeface="Calibri"/>
              <a:sym typeface="Calibri"/>
            </a:endParaRPr>
          </a:p>
        </p:txBody>
      </p:sp>
      <p:sp>
        <p:nvSpPr>
          <p:cNvPr id="9" name="Google Shape;104;p16">
            <a:extLst>
              <a:ext uri="{FF2B5EF4-FFF2-40B4-BE49-F238E27FC236}">
                <a16:creationId xmlns:a16="http://schemas.microsoft.com/office/drawing/2014/main" id="{48D36FC7-042F-72BA-5F33-4CED1B84870F}"/>
              </a:ext>
            </a:extLst>
          </p:cNvPr>
          <p:cNvSpPr txBox="1"/>
          <p:nvPr/>
        </p:nvSpPr>
        <p:spPr>
          <a:xfrm>
            <a:off x="631866" y="745166"/>
            <a:ext cx="6099600" cy="486247"/>
          </a:xfrm>
          <a:prstGeom prst="rect">
            <a:avLst/>
          </a:prstGeom>
          <a:noFill/>
          <a:ln>
            <a:noFill/>
          </a:ln>
        </p:spPr>
        <p:txBody>
          <a:bodyPr spcFirstLastPara="1" wrap="square" lIns="91400" tIns="45700" rIns="91400" bIns="45700" anchor="t" anchorCtr="0">
            <a:spAutoFit/>
          </a:bodyPr>
          <a:lstStyle/>
          <a:p>
            <a:pPr>
              <a:lnSpc>
                <a:spcPct val="80000"/>
              </a:lnSpc>
              <a:buClr>
                <a:srgbClr val="FF0000"/>
              </a:buClr>
              <a:buSzPts val="3200"/>
            </a:pPr>
            <a:r>
              <a:rPr lang="en-US" sz="3200" b="1" dirty="0">
                <a:solidFill>
                  <a:srgbClr val="FF0000"/>
                </a:solidFill>
                <a:latin typeface="Times New Roman" panose="02020603050405020304" pitchFamily="18" charset="0"/>
                <a:ea typeface="Lato Black"/>
                <a:cs typeface="Times New Roman" panose="02020603050405020304" pitchFamily="18" charset="0"/>
                <a:sym typeface="Lato Black"/>
              </a:rPr>
              <a:t>About me</a:t>
            </a:r>
            <a:endParaRPr sz="2400" b="1" dirty="0">
              <a:solidFill>
                <a:srgbClr val="FF0000"/>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654629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08DF9-C626-99F6-2F91-2CCBA772649E}"/>
              </a:ext>
            </a:extLst>
          </p:cNvPr>
          <p:cNvSpPr>
            <a:spLocks noGrp="1"/>
          </p:cNvSpPr>
          <p:nvPr>
            <p:ph type="title"/>
          </p:nvPr>
        </p:nvSpPr>
        <p:spPr/>
        <p:txBody>
          <a:bodyPr>
            <a:normAutofit/>
          </a:bodyPr>
          <a:lstStyle/>
          <a:p>
            <a:r>
              <a:rPr lang="en-US" sz="3200" b="1" dirty="0">
                <a:solidFill>
                  <a:srgbClr val="FF0000"/>
                </a:solidFill>
                <a:latin typeface="Times New Roman" panose="02020603050405020304" pitchFamily="18" charset="0"/>
                <a:cs typeface="Times New Roman" panose="02020603050405020304" pitchFamily="18" charset="0"/>
              </a:rPr>
              <a:t>Business Problem</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8A02207-2BD0-FD54-C81A-70B88BBE3626}"/>
              </a:ext>
            </a:extLst>
          </p:cNvPr>
          <p:cNvSpPr>
            <a:spLocks noGrp="1"/>
          </p:cNvSpPr>
          <p:nvPr>
            <p:ph idx="1"/>
          </p:nvPr>
        </p:nvSpPr>
        <p:spPr>
          <a:xfrm>
            <a:off x="838200" y="1825625"/>
            <a:ext cx="9634538" cy="4351338"/>
          </a:xfrm>
        </p:spPr>
        <p:txBody>
          <a:bodyPr>
            <a:normAutofit/>
          </a:bodyPr>
          <a:lstStyle/>
          <a:p>
            <a:pPr marL="0" indent="0" algn="just">
              <a:lnSpc>
                <a:spcPct val="150000"/>
              </a:lnSpc>
              <a:buNone/>
            </a:pPr>
            <a:r>
              <a:rPr lang="en-US" sz="1800" dirty="0"/>
              <a:t>The restaurant industry is highly competitive, and businesses often struggle to understand customer preferences, improve ratings, increase online visibility, and identify market opportunities. Using Zomato restaurant data, this project applies web scraping and exploratory data analysis (EDA) to uncover customer trends, restaurant performance patterns, and business growth opportunities for data-driven decision-making.</a:t>
            </a:r>
            <a:endParaRPr lang="en-IN" sz="1800" dirty="0"/>
          </a:p>
        </p:txBody>
      </p:sp>
    </p:spTree>
    <p:extLst>
      <p:ext uri="{BB962C8B-B14F-4D97-AF65-F5344CB8AC3E}">
        <p14:creationId xmlns:p14="http://schemas.microsoft.com/office/powerpoint/2010/main" val="403799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F4F7F-4D0A-DFF9-5774-0F6464EFC96B}"/>
              </a:ext>
            </a:extLst>
          </p:cNvPr>
          <p:cNvSpPr>
            <a:spLocks noGrp="1"/>
          </p:cNvSpPr>
          <p:nvPr>
            <p:ph type="title"/>
          </p:nvPr>
        </p:nvSpPr>
        <p:spPr/>
        <p:txBody>
          <a:bodyPr>
            <a:normAutofit/>
          </a:bodyPr>
          <a:lstStyle/>
          <a:p>
            <a:r>
              <a:rPr lang="en-US" sz="3200" b="1" dirty="0">
                <a:solidFill>
                  <a:srgbClr val="FF0000"/>
                </a:solidFill>
                <a:latin typeface="Times New Roman" panose="02020603050405020304" pitchFamily="18" charset="0"/>
                <a:ea typeface="Calibri"/>
                <a:cs typeface="Times New Roman" panose="02020603050405020304" pitchFamily="18" charset="0"/>
                <a:sym typeface="Calibri"/>
              </a:rPr>
              <a:t>Objective</a:t>
            </a:r>
            <a:br>
              <a:rPr lang="en-US" sz="3200" b="1" dirty="0">
                <a:solidFill>
                  <a:srgbClr val="FF0000"/>
                </a:solidFill>
                <a:latin typeface="Times New Roman" panose="02020603050405020304" pitchFamily="18" charset="0"/>
                <a:ea typeface="Calibri"/>
                <a:cs typeface="Times New Roman" panose="02020603050405020304" pitchFamily="18" charset="0"/>
                <a:sym typeface="Calibri"/>
              </a:rPr>
            </a:br>
            <a:endParaRPr lang="en-IN" sz="3200" dirty="0"/>
          </a:p>
        </p:txBody>
      </p:sp>
      <p:sp>
        <p:nvSpPr>
          <p:cNvPr id="3" name="Content Placeholder 2">
            <a:extLst>
              <a:ext uri="{FF2B5EF4-FFF2-40B4-BE49-F238E27FC236}">
                <a16:creationId xmlns:a16="http://schemas.microsoft.com/office/drawing/2014/main" id="{1618E026-0245-FF2D-F72E-2973CE2EC19B}"/>
              </a:ext>
            </a:extLst>
          </p:cNvPr>
          <p:cNvSpPr>
            <a:spLocks noGrp="1"/>
          </p:cNvSpPr>
          <p:nvPr>
            <p:ph idx="1"/>
          </p:nvPr>
        </p:nvSpPr>
        <p:spPr>
          <a:xfrm>
            <a:off x="1009650" y="1454150"/>
            <a:ext cx="10515600" cy="4351338"/>
          </a:xfrm>
        </p:spPr>
        <p:txBody>
          <a:bodyPr>
            <a:normAutofit/>
          </a:bodyPr>
          <a:lstStyle/>
          <a:p>
            <a:pPr>
              <a:lnSpc>
                <a:spcPct val="150000"/>
              </a:lnSpc>
            </a:pPr>
            <a:r>
              <a:rPr lang="en-US" sz="1800" dirty="0">
                <a:latin typeface="Times New Roman" panose="02020603050405020304" pitchFamily="18" charset="0"/>
                <a:cs typeface="Times New Roman" panose="02020603050405020304" pitchFamily="18" charset="0"/>
              </a:rPr>
              <a:t>Analyze customer satisfaction using restaurant ratings and review patterns.</a:t>
            </a:r>
          </a:p>
          <a:p>
            <a:pPr>
              <a:lnSpc>
                <a:spcPct val="150000"/>
              </a:lnSpc>
            </a:pPr>
            <a:r>
              <a:rPr lang="en-US" sz="1800" dirty="0">
                <a:latin typeface="Times New Roman" panose="02020603050405020304" pitchFamily="18" charset="0"/>
                <a:cs typeface="Times New Roman" panose="02020603050405020304" pitchFamily="18" charset="0"/>
              </a:rPr>
              <a:t>Identify the most popular cuisines and dining preferences among customers.</a:t>
            </a:r>
          </a:p>
          <a:p>
            <a:pPr>
              <a:lnSpc>
                <a:spcPct val="150000"/>
              </a:lnSpc>
            </a:pPr>
            <a:r>
              <a:rPr lang="en-US" sz="1800" dirty="0">
                <a:latin typeface="Times New Roman" panose="02020603050405020304" pitchFamily="18" charset="0"/>
                <a:cs typeface="Times New Roman" panose="02020603050405020304" pitchFamily="18" charset="0"/>
              </a:rPr>
              <a:t>Study the relationship between restaurant popularity and customer ratings.</a:t>
            </a:r>
          </a:p>
          <a:p>
            <a:pPr>
              <a:lnSpc>
                <a:spcPct val="150000"/>
              </a:lnSpc>
            </a:pPr>
            <a:r>
              <a:rPr lang="en-US" sz="1800" dirty="0">
                <a:latin typeface="Times New Roman" panose="02020603050405020304" pitchFamily="18" charset="0"/>
                <a:cs typeface="Times New Roman" panose="02020603050405020304" pitchFamily="18" charset="0"/>
              </a:rPr>
              <a:t>Analyze location-wise restaurant concentration and customer engagement.</a:t>
            </a:r>
          </a:p>
          <a:p>
            <a:pPr>
              <a:lnSpc>
                <a:spcPct val="150000"/>
              </a:lnSpc>
            </a:pPr>
            <a:r>
              <a:rPr lang="en-US" sz="1800" dirty="0">
                <a:latin typeface="Times New Roman" panose="02020603050405020304" pitchFamily="18" charset="0"/>
                <a:cs typeface="Times New Roman" panose="02020603050405020304" pitchFamily="18" charset="0"/>
              </a:rPr>
              <a:t>Identify premium and high-performing restaurant categories.</a:t>
            </a:r>
          </a:p>
          <a:p>
            <a:pPr>
              <a:lnSpc>
                <a:spcPct val="150000"/>
              </a:lnSpc>
            </a:pPr>
            <a:r>
              <a:rPr lang="en-US" sz="1800" dirty="0">
                <a:latin typeface="Times New Roman" panose="02020603050405020304" pitchFamily="18" charset="0"/>
                <a:cs typeface="Times New Roman" panose="02020603050405020304" pitchFamily="18" charset="0"/>
              </a:rPr>
              <a:t>Detect hidden growth opportunities through underrated restaurants.</a:t>
            </a:r>
          </a:p>
          <a:p>
            <a:pPr>
              <a:lnSpc>
                <a:spcPct val="150000"/>
              </a:lnSpc>
            </a:pPr>
            <a:r>
              <a:rPr lang="en-US" sz="1800" dirty="0">
                <a:latin typeface="Times New Roman" panose="02020603050405020304" pitchFamily="18" charset="0"/>
                <a:cs typeface="Times New Roman" panose="02020603050405020304" pitchFamily="18" charset="0"/>
              </a:rPr>
              <a:t>Generate business recommendations using data-driven insights.</a:t>
            </a:r>
          </a:p>
          <a:p>
            <a:pPr>
              <a:lnSpc>
                <a:spcPct val="150000"/>
              </a:lnSpc>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6781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D506E-FBAE-2A29-CEE2-55E2FA626433}"/>
              </a:ext>
            </a:extLst>
          </p:cNvPr>
          <p:cNvSpPr>
            <a:spLocks noGrp="1"/>
          </p:cNvSpPr>
          <p:nvPr>
            <p:ph type="title"/>
          </p:nvPr>
        </p:nvSpPr>
        <p:spPr/>
        <p:txBody>
          <a:bodyPr>
            <a:normAutofit/>
          </a:bodyPr>
          <a:lstStyle/>
          <a:p>
            <a:r>
              <a:rPr lang="en-IN" sz="3200" b="1" dirty="0">
                <a:solidFill>
                  <a:srgbClr val="FF0000"/>
                </a:solidFill>
                <a:latin typeface="Times New Roman" panose="02020603050405020304" pitchFamily="18" charset="0"/>
                <a:cs typeface="Times New Roman" panose="02020603050405020304" pitchFamily="18" charset="0"/>
              </a:rPr>
              <a:t>Web Scraping Process</a:t>
            </a:r>
            <a:endParaRPr lang="en-IN" sz="32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4310471C-062C-2E35-8066-E880C2F46AA6}"/>
              </a:ext>
            </a:extLst>
          </p:cNvPr>
          <p:cNvSpPr>
            <a:spLocks noGrp="1" noChangeArrowheads="1"/>
          </p:cNvSpPr>
          <p:nvPr>
            <p:ph idx="1"/>
          </p:nvPr>
        </p:nvSpPr>
        <p:spPr bwMode="auto">
          <a:xfrm>
            <a:off x="838200" y="2276311"/>
            <a:ext cx="7952818" cy="2535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Collected restaurant data from Zomato using web scraping techniques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Python libraries like Requests, Beautiful Soup</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Extracted restaurant details such as ratings, cuisines, prices, reviews, and locations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Converted scraped data into a structured Pandas Data Frame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Performed data cleaning and preprocessing for analysis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Stored the cleaned dataset for exploratory data analysis (EDA) and visualization</a:t>
            </a:r>
          </a:p>
        </p:txBody>
      </p:sp>
    </p:spTree>
    <p:extLst>
      <p:ext uri="{BB962C8B-B14F-4D97-AF65-F5344CB8AC3E}">
        <p14:creationId xmlns:p14="http://schemas.microsoft.com/office/powerpoint/2010/main" val="2830915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CAF23-BC59-D472-F338-49A90340597B}"/>
              </a:ext>
            </a:extLst>
          </p:cNvPr>
          <p:cNvSpPr>
            <a:spLocks noGrp="1"/>
          </p:cNvSpPr>
          <p:nvPr>
            <p:ph type="title"/>
          </p:nvPr>
        </p:nvSpPr>
        <p:spPr/>
        <p:txBody>
          <a:bodyPr>
            <a:normAutofit/>
          </a:bodyPr>
          <a:lstStyle/>
          <a:p>
            <a:r>
              <a:rPr lang="en-IN" sz="3200" b="1" dirty="0">
                <a:solidFill>
                  <a:srgbClr val="FF0000"/>
                </a:solidFill>
                <a:latin typeface="Times New Roman" panose="02020603050405020304" pitchFamily="18" charset="0"/>
                <a:cs typeface="Times New Roman" panose="02020603050405020304" pitchFamily="18" charset="0"/>
              </a:rPr>
              <a:t>Exploratory Data Analysis (EDA)</a:t>
            </a:r>
            <a:endParaRPr lang="en-IN" sz="32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E3711566-7F90-1F3F-233D-C6A5A18D8DFA}"/>
              </a:ext>
            </a:extLst>
          </p:cNvPr>
          <p:cNvSpPr>
            <a:spLocks noGrp="1" noChangeArrowheads="1"/>
          </p:cNvSpPr>
          <p:nvPr>
            <p:ph idx="1"/>
          </p:nvPr>
        </p:nvSpPr>
        <p:spPr bwMode="auto">
          <a:xfrm>
            <a:off x="838200" y="2054641"/>
            <a:ext cx="8145178" cy="2120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Transformed raw scraped data into a structured analytical format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Converted categorical and textual data into standardized values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Normalized ratings, prices, and review counts for consistency</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Created grouped price ranges and rating categories for better visualization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Prepared transformed data for exploratory data analysis (EDA) and business insights</a:t>
            </a:r>
          </a:p>
        </p:txBody>
      </p:sp>
    </p:spTree>
    <p:extLst>
      <p:ext uri="{BB962C8B-B14F-4D97-AF65-F5344CB8AC3E}">
        <p14:creationId xmlns:p14="http://schemas.microsoft.com/office/powerpoint/2010/main" val="3824751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E838B-DBFD-F9BE-D36B-7278A7C3DAAC}"/>
              </a:ext>
            </a:extLst>
          </p:cNvPr>
          <p:cNvSpPr>
            <a:spLocks noGrp="1"/>
          </p:cNvSpPr>
          <p:nvPr>
            <p:ph type="title"/>
          </p:nvPr>
        </p:nvSpPr>
        <p:spPr/>
        <p:txBody>
          <a:bodyPr>
            <a:normAutofit/>
          </a:bodyPr>
          <a:lstStyle/>
          <a:p>
            <a:r>
              <a:rPr lang="en-IN" sz="3200" b="1" dirty="0">
                <a:solidFill>
                  <a:srgbClr val="FF0000"/>
                </a:solidFill>
                <a:latin typeface="Times New Roman" panose="02020603050405020304" pitchFamily="18" charset="0"/>
                <a:cs typeface="Times New Roman" panose="02020603050405020304" pitchFamily="18" charset="0"/>
              </a:rPr>
              <a:t>Data Visualization</a:t>
            </a:r>
            <a:endParaRPr lang="en-IN" sz="3200"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A3DACF6E-5861-161D-F12B-C96E0AE75901}"/>
              </a:ext>
            </a:extLst>
          </p:cNvPr>
          <p:cNvPicPr>
            <a:picLocks noGrp="1" noChangeAspect="1"/>
          </p:cNvPicPr>
          <p:nvPr>
            <p:ph idx="1"/>
          </p:nvPr>
        </p:nvPicPr>
        <p:blipFill>
          <a:blip r:embed="rId2"/>
          <a:stretch>
            <a:fillRect/>
          </a:stretch>
        </p:blipFill>
        <p:spPr>
          <a:xfrm>
            <a:off x="5779106" y="1280572"/>
            <a:ext cx="6011114" cy="3877216"/>
          </a:xfrm>
          <a:prstGeom prst="rect">
            <a:avLst/>
          </a:prstGeom>
        </p:spPr>
      </p:pic>
      <p:sp>
        <p:nvSpPr>
          <p:cNvPr id="6" name="TextBox 5">
            <a:extLst>
              <a:ext uri="{FF2B5EF4-FFF2-40B4-BE49-F238E27FC236}">
                <a16:creationId xmlns:a16="http://schemas.microsoft.com/office/drawing/2014/main" id="{8165374E-E32D-39DE-CC7C-E9F4ED1F9172}"/>
              </a:ext>
            </a:extLst>
          </p:cNvPr>
          <p:cNvSpPr txBox="1"/>
          <p:nvPr/>
        </p:nvSpPr>
        <p:spPr>
          <a:xfrm>
            <a:off x="838200" y="5157788"/>
            <a:ext cx="4319588" cy="12003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Insight: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Most restaurants cluster between 4.0–4.5 ratings.</a:t>
            </a: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FFA306CD-4992-04F4-A8F2-11B0F1EEC19A}"/>
              </a:ext>
            </a:extLst>
          </p:cNvPr>
          <p:cNvPicPr>
            <a:picLocks noChangeAspect="1"/>
          </p:cNvPicPr>
          <p:nvPr/>
        </p:nvPicPr>
        <p:blipFill>
          <a:blip r:embed="rId3"/>
          <a:stretch>
            <a:fillRect/>
          </a:stretch>
        </p:blipFill>
        <p:spPr>
          <a:xfrm>
            <a:off x="876300" y="1519238"/>
            <a:ext cx="4902806" cy="3367087"/>
          </a:xfrm>
          <a:prstGeom prst="rect">
            <a:avLst/>
          </a:prstGeom>
        </p:spPr>
      </p:pic>
    </p:spTree>
    <p:extLst>
      <p:ext uri="{BB962C8B-B14F-4D97-AF65-F5344CB8AC3E}">
        <p14:creationId xmlns:p14="http://schemas.microsoft.com/office/powerpoint/2010/main" val="33606675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CA5BC-8E25-F3C4-197E-E260FCA39386}"/>
              </a:ext>
            </a:extLst>
          </p:cNvPr>
          <p:cNvSpPr>
            <a:spLocks noGrp="1"/>
          </p:cNvSpPr>
          <p:nvPr>
            <p:ph type="title"/>
          </p:nvPr>
        </p:nvSpPr>
        <p:spPr>
          <a:xfrm>
            <a:off x="838200" y="365126"/>
            <a:ext cx="10515600" cy="592138"/>
          </a:xfrm>
        </p:spPr>
        <p:txBody>
          <a:bodyPr>
            <a:normAutofit/>
          </a:bodyPr>
          <a:lstStyle/>
          <a:p>
            <a:r>
              <a:rPr lang="en-IN" sz="1800" dirty="0">
                <a:latin typeface="Times New Roman" panose="02020603050405020304" pitchFamily="18" charset="0"/>
                <a:cs typeface="Times New Roman" panose="02020603050405020304" pitchFamily="18" charset="0"/>
              </a:rPr>
              <a:t>Top Cuisines Objective - Identify dominant cuisine categories.</a:t>
            </a:r>
          </a:p>
        </p:txBody>
      </p:sp>
      <p:pic>
        <p:nvPicPr>
          <p:cNvPr id="5" name="Content Placeholder 4">
            <a:extLst>
              <a:ext uri="{FF2B5EF4-FFF2-40B4-BE49-F238E27FC236}">
                <a16:creationId xmlns:a16="http://schemas.microsoft.com/office/drawing/2014/main" id="{E7DB8E3C-295E-6EA2-6084-4A3F197D8486}"/>
              </a:ext>
            </a:extLst>
          </p:cNvPr>
          <p:cNvPicPr>
            <a:picLocks noGrp="1" noChangeAspect="1"/>
          </p:cNvPicPr>
          <p:nvPr>
            <p:ph idx="1"/>
          </p:nvPr>
        </p:nvPicPr>
        <p:blipFill>
          <a:blip r:embed="rId2"/>
          <a:stretch>
            <a:fillRect/>
          </a:stretch>
        </p:blipFill>
        <p:spPr>
          <a:xfrm>
            <a:off x="395287" y="1409440"/>
            <a:ext cx="5423047" cy="3524770"/>
          </a:xfrm>
          <a:prstGeom prst="rect">
            <a:avLst/>
          </a:prstGeom>
        </p:spPr>
      </p:pic>
      <p:pic>
        <p:nvPicPr>
          <p:cNvPr id="7" name="Picture 6">
            <a:extLst>
              <a:ext uri="{FF2B5EF4-FFF2-40B4-BE49-F238E27FC236}">
                <a16:creationId xmlns:a16="http://schemas.microsoft.com/office/drawing/2014/main" id="{F29DDA19-8078-7834-4D83-E82C0E484CB0}"/>
              </a:ext>
            </a:extLst>
          </p:cNvPr>
          <p:cNvPicPr>
            <a:picLocks noChangeAspect="1"/>
          </p:cNvPicPr>
          <p:nvPr/>
        </p:nvPicPr>
        <p:blipFill>
          <a:blip r:embed="rId3"/>
          <a:stretch>
            <a:fillRect/>
          </a:stretch>
        </p:blipFill>
        <p:spPr>
          <a:xfrm>
            <a:off x="6229351" y="1209415"/>
            <a:ext cx="5729824" cy="3724795"/>
          </a:xfrm>
          <a:prstGeom prst="rect">
            <a:avLst/>
          </a:prstGeom>
        </p:spPr>
      </p:pic>
      <p:sp>
        <p:nvSpPr>
          <p:cNvPr id="8" name="TextBox 7">
            <a:extLst>
              <a:ext uri="{FF2B5EF4-FFF2-40B4-BE49-F238E27FC236}">
                <a16:creationId xmlns:a16="http://schemas.microsoft.com/office/drawing/2014/main" id="{A2B6AA3E-7BB3-5EE4-4978-B37302DB8859}"/>
              </a:ext>
            </a:extLst>
          </p:cNvPr>
          <p:cNvSpPr txBox="1"/>
          <p:nvPr/>
        </p:nvSpPr>
        <p:spPr>
          <a:xfrm>
            <a:off x="395287" y="5543550"/>
            <a:ext cx="8462963"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Insight: North Indian cuisine dominates restaurant offerings.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69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4C45A-846F-0DB6-B02F-2D87D7D72D2F}"/>
              </a:ext>
            </a:extLst>
          </p:cNvPr>
          <p:cNvSpPr>
            <a:spLocks noGrp="1"/>
          </p:cNvSpPr>
          <p:nvPr>
            <p:ph type="title"/>
          </p:nvPr>
        </p:nvSpPr>
        <p:spPr>
          <a:xfrm>
            <a:off x="838200" y="585787"/>
            <a:ext cx="10515600" cy="433389"/>
          </a:xfrm>
        </p:spPr>
        <p:txBody>
          <a:bodyPr>
            <a:normAutofit/>
          </a:bodyPr>
          <a:lstStyle/>
          <a:p>
            <a:r>
              <a:rPr lang="en-US" sz="1800" dirty="0">
                <a:latin typeface="Times New Roman" panose="02020603050405020304" pitchFamily="18" charset="0"/>
                <a:cs typeface="Times New Roman" panose="02020603050405020304" pitchFamily="18" charset="0"/>
              </a:rPr>
              <a:t>Rating Categories Objective : Segment restaurants by quality tiers.</a:t>
            </a:r>
            <a:endParaRPr lang="en-IN" sz="1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E5E8143-6C1D-2E62-4291-9729FE5E70E1}"/>
              </a:ext>
            </a:extLst>
          </p:cNvPr>
          <p:cNvSpPr>
            <a:spLocks noGrp="1"/>
          </p:cNvSpPr>
          <p:nvPr>
            <p:ph idx="1"/>
          </p:nvPr>
        </p:nvSpPr>
        <p:spPr>
          <a:xfrm>
            <a:off x="838200" y="5534092"/>
            <a:ext cx="10515600" cy="642871"/>
          </a:xfrm>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Insight: Most restaurants fall into the “Good” category.</a:t>
            </a:r>
            <a:endParaRPr lang="en-IN"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CE656AB-48BA-DF11-87CC-343B83657DA5}"/>
              </a:ext>
            </a:extLst>
          </p:cNvPr>
          <p:cNvPicPr>
            <a:picLocks noChangeAspect="1"/>
          </p:cNvPicPr>
          <p:nvPr/>
        </p:nvPicPr>
        <p:blipFill>
          <a:blip r:embed="rId2"/>
          <a:stretch>
            <a:fillRect/>
          </a:stretch>
        </p:blipFill>
        <p:spPr>
          <a:xfrm>
            <a:off x="838200" y="1561961"/>
            <a:ext cx="4641496" cy="2895740"/>
          </a:xfrm>
          <a:prstGeom prst="rect">
            <a:avLst/>
          </a:prstGeom>
        </p:spPr>
      </p:pic>
      <p:pic>
        <p:nvPicPr>
          <p:cNvPr id="7" name="Picture 6">
            <a:extLst>
              <a:ext uri="{FF2B5EF4-FFF2-40B4-BE49-F238E27FC236}">
                <a16:creationId xmlns:a16="http://schemas.microsoft.com/office/drawing/2014/main" id="{210E5D56-8C8E-9993-2422-3342C4E66E45}"/>
              </a:ext>
            </a:extLst>
          </p:cNvPr>
          <p:cNvPicPr>
            <a:picLocks noChangeAspect="1"/>
          </p:cNvPicPr>
          <p:nvPr/>
        </p:nvPicPr>
        <p:blipFill>
          <a:blip r:embed="rId3"/>
          <a:stretch>
            <a:fillRect/>
          </a:stretch>
        </p:blipFill>
        <p:spPr>
          <a:xfrm>
            <a:off x="6986305" y="1028354"/>
            <a:ext cx="4048690" cy="3962953"/>
          </a:xfrm>
          <a:prstGeom prst="rect">
            <a:avLst/>
          </a:prstGeom>
        </p:spPr>
      </p:pic>
    </p:spTree>
    <p:extLst>
      <p:ext uri="{BB962C8B-B14F-4D97-AF65-F5344CB8AC3E}">
        <p14:creationId xmlns:p14="http://schemas.microsoft.com/office/powerpoint/2010/main" val="3858563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4FB1E-EAB2-1CC8-A4BE-A004755B3C10}"/>
              </a:ext>
            </a:extLst>
          </p:cNvPr>
          <p:cNvSpPr>
            <a:spLocks noGrp="1"/>
          </p:cNvSpPr>
          <p:nvPr>
            <p:ph type="title"/>
          </p:nvPr>
        </p:nvSpPr>
        <p:spPr>
          <a:xfrm>
            <a:off x="838200" y="365126"/>
            <a:ext cx="10515600" cy="820738"/>
          </a:xfrm>
        </p:spPr>
        <p:txBody>
          <a:bodyPr>
            <a:normAutofit/>
          </a:bodyPr>
          <a:lstStyle/>
          <a:p>
            <a:r>
              <a:rPr lang="en-US" sz="1800" dirty="0">
                <a:latin typeface="Times New Roman" panose="02020603050405020304" pitchFamily="18" charset="0"/>
                <a:cs typeface="Times New Roman" panose="02020603050405020304" pitchFamily="18" charset="0"/>
              </a:rPr>
              <a:t>Popularity Category vs Reviews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Objective : Analyze review spread across popularity segments.</a:t>
            </a:r>
            <a:endParaRPr lang="en-IN" sz="1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9A6C396-8341-0F9F-1EA9-41C2069EF2F6}"/>
              </a:ext>
            </a:extLst>
          </p:cNvPr>
          <p:cNvSpPr>
            <a:spLocks noGrp="1"/>
          </p:cNvSpPr>
          <p:nvPr>
            <p:ph idx="1"/>
          </p:nvPr>
        </p:nvSpPr>
        <p:spPr>
          <a:xfrm>
            <a:off x="838200" y="5356225"/>
            <a:ext cx="10515600" cy="820738"/>
          </a:xfrm>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Insight: Highly popular restaurants show large review variability.</a:t>
            </a:r>
            <a:endParaRPr lang="en-IN"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7E84305-E712-971B-D651-FCE3F3CD9B8B}"/>
              </a:ext>
            </a:extLst>
          </p:cNvPr>
          <p:cNvPicPr>
            <a:picLocks noChangeAspect="1"/>
          </p:cNvPicPr>
          <p:nvPr/>
        </p:nvPicPr>
        <p:blipFill>
          <a:blip r:embed="rId2"/>
          <a:stretch>
            <a:fillRect/>
          </a:stretch>
        </p:blipFill>
        <p:spPr>
          <a:xfrm>
            <a:off x="838200" y="1619143"/>
            <a:ext cx="4129326" cy="2638532"/>
          </a:xfrm>
          <a:prstGeom prst="rect">
            <a:avLst/>
          </a:prstGeom>
        </p:spPr>
      </p:pic>
      <p:pic>
        <p:nvPicPr>
          <p:cNvPr id="7" name="Picture 6">
            <a:extLst>
              <a:ext uri="{FF2B5EF4-FFF2-40B4-BE49-F238E27FC236}">
                <a16:creationId xmlns:a16="http://schemas.microsoft.com/office/drawing/2014/main" id="{3EC2F99E-8E64-A3FF-F1DC-CDEBCF5ECFCE}"/>
              </a:ext>
            </a:extLst>
          </p:cNvPr>
          <p:cNvPicPr>
            <a:picLocks noChangeAspect="1"/>
          </p:cNvPicPr>
          <p:nvPr/>
        </p:nvPicPr>
        <p:blipFill>
          <a:blip r:embed="rId3"/>
          <a:stretch>
            <a:fillRect/>
          </a:stretch>
        </p:blipFill>
        <p:spPr>
          <a:xfrm>
            <a:off x="5826741" y="1220789"/>
            <a:ext cx="5203642" cy="3586161"/>
          </a:xfrm>
          <a:prstGeom prst="rect">
            <a:avLst/>
          </a:prstGeom>
        </p:spPr>
      </p:pic>
    </p:spTree>
    <p:extLst>
      <p:ext uri="{BB962C8B-B14F-4D97-AF65-F5344CB8AC3E}">
        <p14:creationId xmlns:p14="http://schemas.microsoft.com/office/powerpoint/2010/main" val="2431509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8C6D2-E8A5-84AF-A56B-54BF451BC591}"/>
              </a:ext>
            </a:extLst>
          </p:cNvPr>
          <p:cNvSpPr>
            <a:spLocks noGrp="1"/>
          </p:cNvSpPr>
          <p:nvPr>
            <p:ph type="title"/>
          </p:nvPr>
        </p:nvSpPr>
        <p:spPr>
          <a:xfrm>
            <a:off x="838200" y="365125"/>
            <a:ext cx="10515600" cy="892175"/>
          </a:xfrm>
        </p:spPr>
        <p:txBody>
          <a:bodyPr>
            <a:normAutofit/>
          </a:bodyPr>
          <a:lstStyle/>
          <a:p>
            <a:r>
              <a:rPr lang="en-US" sz="1800" dirty="0">
                <a:latin typeface="Times New Roman" panose="02020603050405020304" pitchFamily="18" charset="0"/>
                <a:cs typeface="Times New Roman" panose="02020603050405020304" pitchFamily="18" charset="0"/>
              </a:rPr>
              <a:t>Cuisine + Reviews + Ratings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Objective : Identify market leaders.</a:t>
            </a:r>
            <a:endParaRPr lang="en-IN" sz="1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B86C661-86FA-A2A2-9933-9F318A77BECB}"/>
              </a:ext>
            </a:extLst>
          </p:cNvPr>
          <p:cNvSpPr>
            <a:spLocks noGrp="1"/>
          </p:cNvSpPr>
          <p:nvPr>
            <p:ph idx="1"/>
          </p:nvPr>
        </p:nvSpPr>
        <p:spPr>
          <a:xfrm>
            <a:off x="838200" y="5284787"/>
            <a:ext cx="10515600" cy="892175"/>
          </a:xfrm>
        </p:spPr>
        <p:txBody>
          <a:bodyPr>
            <a:normAutofit/>
          </a:bodyPr>
          <a:lstStyle/>
          <a:p>
            <a:pPr marL="0" indent="0">
              <a:buNone/>
            </a:pPr>
            <a:r>
              <a:rPr lang="en-IN" sz="1800" dirty="0">
                <a:latin typeface="Times New Roman" panose="02020603050405020304" pitchFamily="18" charset="0"/>
                <a:cs typeface="Times New Roman" panose="02020603050405020304" pitchFamily="18" charset="0"/>
              </a:rPr>
              <a:t>Insight: Asian and Continental restaurants dominate engagement.</a:t>
            </a:r>
          </a:p>
        </p:txBody>
      </p:sp>
      <p:pic>
        <p:nvPicPr>
          <p:cNvPr id="5" name="Picture 4">
            <a:extLst>
              <a:ext uri="{FF2B5EF4-FFF2-40B4-BE49-F238E27FC236}">
                <a16:creationId xmlns:a16="http://schemas.microsoft.com/office/drawing/2014/main" id="{6044A7F5-FE12-864B-4339-F974770112D4}"/>
              </a:ext>
            </a:extLst>
          </p:cNvPr>
          <p:cNvPicPr>
            <a:picLocks noChangeAspect="1"/>
          </p:cNvPicPr>
          <p:nvPr/>
        </p:nvPicPr>
        <p:blipFill>
          <a:blip r:embed="rId2"/>
          <a:stretch>
            <a:fillRect/>
          </a:stretch>
        </p:blipFill>
        <p:spPr>
          <a:xfrm>
            <a:off x="985837" y="1401518"/>
            <a:ext cx="4414837" cy="3227808"/>
          </a:xfrm>
          <a:prstGeom prst="rect">
            <a:avLst/>
          </a:prstGeom>
        </p:spPr>
      </p:pic>
      <p:pic>
        <p:nvPicPr>
          <p:cNvPr id="7" name="Picture 6">
            <a:extLst>
              <a:ext uri="{FF2B5EF4-FFF2-40B4-BE49-F238E27FC236}">
                <a16:creationId xmlns:a16="http://schemas.microsoft.com/office/drawing/2014/main" id="{3D07EDB0-4593-0383-65A8-E368FC4728C5}"/>
              </a:ext>
            </a:extLst>
          </p:cNvPr>
          <p:cNvPicPr>
            <a:picLocks noChangeAspect="1"/>
          </p:cNvPicPr>
          <p:nvPr/>
        </p:nvPicPr>
        <p:blipFill>
          <a:blip r:embed="rId3"/>
          <a:stretch>
            <a:fillRect/>
          </a:stretch>
        </p:blipFill>
        <p:spPr>
          <a:xfrm>
            <a:off x="6096000" y="1257300"/>
            <a:ext cx="4772691" cy="3315163"/>
          </a:xfrm>
          <a:prstGeom prst="rect">
            <a:avLst/>
          </a:prstGeom>
        </p:spPr>
      </p:pic>
    </p:spTree>
    <p:extLst>
      <p:ext uri="{BB962C8B-B14F-4D97-AF65-F5344CB8AC3E}">
        <p14:creationId xmlns:p14="http://schemas.microsoft.com/office/powerpoint/2010/main" val="2151429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6703B-F340-D797-BEA8-1FED4C17F9AC}"/>
              </a:ext>
            </a:extLst>
          </p:cNvPr>
          <p:cNvSpPr>
            <a:spLocks noGrp="1"/>
          </p:cNvSpPr>
          <p:nvPr>
            <p:ph type="title"/>
          </p:nvPr>
        </p:nvSpPr>
        <p:spPr/>
        <p:txBody>
          <a:bodyPr>
            <a:normAutofit/>
          </a:bodyPr>
          <a:lstStyle/>
          <a:p>
            <a:r>
              <a:rPr lang="en-IN" sz="3200" b="1" dirty="0">
                <a:solidFill>
                  <a:srgbClr val="FF0000"/>
                </a:solidFill>
                <a:latin typeface="Times New Roman" panose="02020603050405020304" pitchFamily="18" charset="0"/>
                <a:cs typeface="Times New Roman" panose="02020603050405020304" pitchFamily="18" charset="0"/>
              </a:rPr>
              <a:t>Hypothesis Testing</a:t>
            </a:r>
            <a:br>
              <a:rPr lang="en-IN" sz="3200" b="1" dirty="0">
                <a:solidFill>
                  <a:srgbClr val="FF0000"/>
                </a:solidFill>
                <a:latin typeface="Times New Roman" panose="02020603050405020304" pitchFamily="18" charset="0"/>
                <a:cs typeface="Times New Roman" panose="02020603050405020304" pitchFamily="18" charset="0"/>
              </a:rPr>
            </a:b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C58BC27-BE00-F576-8AAB-A1D4576DAC1E}"/>
              </a:ext>
            </a:extLst>
          </p:cNvPr>
          <p:cNvSpPr>
            <a:spLocks noGrp="1"/>
          </p:cNvSpPr>
          <p:nvPr>
            <p:ph idx="1"/>
          </p:nvPr>
        </p:nvSpPr>
        <p:spPr>
          <a:xfrm>
            <a:off x="838200" y="1825625"/>
            <a:ext cx="5691188" cy="4351338"/>
          </a:xfrm>
        </p:spPr>
        <p:txBody>
          <a:bodyPr>
            <a:noAutofit/>
          </a:bodyPr>
          <a:lstStyle/>
          <a:p>
            <a:r>
              <a:rPr lang="en-US" sz="1800" b="1" dirty="0">
                <a:latin typeface="Times New Roman" panose="02020603050405020304" pitchFamily="18" charset="0"/>
                <a:cs typeface="Times New Roman" panose="02020603050405020304" pitchFamily="18" charset="0"/>
              </a:rPr>
              <a:t>Hypothesis Testing: Hidden Gem Restaurants</a:t>
            </a:r>
          </a:p>
          <a:p>
            <a:r>
              <a:rPr lang="en-US" sz="1800" b="1" dirty="0">
                <a:latin typeface="Times New Roman" panose="02020603050405020304" pitchFamily="18" charset="0"/>
                <a:cs typeface="Times New Roman" panose="02020603050405020304" pitchFamily="18" charset="0"/>
              </a:rPr>
              <a:t>H₀:</a:t>
            </a:r>
            <a:r>
              <a:rPr lang="en-US" sz="1800" dirty="0">
                <a:latin typeface="Times New Roman" panose="02020603050405020304" pitchFamily="18" charset="0"/>
                <a:cs typeface="Times New Roman" panose="02020603050405020304" pitchFamily="18" charset="0"/>
              </a:rPr>
              <a:t> Hidden Gem ratings are equal to the overall average rating.</a:t>
            </a:r>
          </a:p>
          <a:p>
            <a:r>
              <a:rPr lang="en-US" sz="1800" b="1" dirty="0">
                <a:latin typeface="Times New Roman" panose="02020603050405020304" pitchFamily="18" charset="0"/>
                <a:cs typeface="Times New Roman" panose="02020603050405020304" pitchFamily="18" charset="0"/>
              </a:rPr>
              <a:t>H₁:</a:t>
            </a:r>
            <a:r>
              <a:rPr lang="en-US" sz="1800" dirty="0">
                <a:latin typeface="Times New Roman" panose="02020603050405020304" pitchFamily="18" charset="0"/>
                <a:cs typeface="Times New Roman" panose="02020603050405020304" pitchFamily="18" charset="0"/>
              </a:rPr>
              <a:t> Hidden Gem ratings are higher than the overall average rating.</a:t>
            </a:r>
          </a:p>
          <a:p>
            <a:r>
              <a:rPr lang="en-US" sz="1800" b="1" dirty="0">
                <a:latin typeface="Times New Roman" panose="02020603050405020304" pitchFamily="18" charset="0"/>
                <a:cs typeface="Times New Roman" panose="02020603050405020304" pitchFamily="18" charset="0"/>
              </a:rPr>
              <a:t>Overall Mean Rating:</a:t>
            </a:r>
            <a:r>
              <a:rPr lang="en-US" sz="1800" dirty="0">
                <a:latin typeface="Times New Roman" panose="02020603050405020304" pitchFamily="18" charset="0"/>
                <a:cs typeface="Times New Roman" panose="02020603050405020304" pitchFamily="18" charset="0"/>
              </a:rPr>
              <a:t> 4.15</a:t>
            </a:r>
          </a:p>
          <a:p>
            <a:r>
              <a:rPr lang="en-US" sz="1800" b="1" dirty="0">
                <a:latin typeface="Times New Roman" panose="02020603050405020304" pitchFamily="18" charset="0"/>
                <a:cs typeface="Times New Roman" panose="02020603050405020304" pitchFamily="18" charset="0"/>
              </a:rPr>
              <a:t>Hidden Gem Mean Rating:</a:t>
            </a:r>
            <a:r>
              <a:rPr lang="en-US" sz="1800" dirty="0">
                <a:latin typeface="Times New Roman" panose="02020603050405020304" pitchFamily="18" charset="0"/>
                <a:cs typeface="Times New Roman" panose="02020603050405020304" pitchFamily="18" charset="0"/>
              </a:rPr>
              <a:t> 4.50</a:t>
            </a:r>
          </a:p>
          <a:p>
            <a:r>
              <a:rPr lang="en-US" sz="1800" b="1" dirty="0">
                <a:latin typeface="Times New Roman" panose="02020603050405020304" pitchFamily="18" charset="0"/>
                <a:cs typeface="Times New Roman" panose="02020603050405020304" pitchFamily="18" charset="0"/>
              </a:rPr>
              <a:t>Decision:</a:t>
            </a:r>
            <a:r>
              <a:rPr lang="en-US" sz="1800" dirty="0">
                <a:latin typeface="Times New Roman" panose="02020603050405020304" pitchFamily="18" charset="0"/>
                <a:cs typeface="Times New Roman" panose="02020603050405020304" pitchFamily="18" charset="0"/>
              </a:rPr>
              <a:t> Reject H₀ </a:t>
            </a:r>
            <a:r>
              <a:rPr lang="en-US" sz="1800" i="1" dirty="0">
                <a:latin typeface="Times New Roman" panose="02020603050405020304" pitchFamily="18" charset="0"/>
                <a:cs typeface="Times New Roman" panose="02020603050405020304" pitchFamily="18" charset="0"/>
              </a:rPr>
              <a:t>(if p-value &lt; 0.05)</a:t>
            </a:r>
          </a:p>
          <a:p>
            <a:r>
              <a:rPr lang="en-US" sz="1800" dirty="0"/>
              <a:t>Hidden Gem restaurants achieve an average rating of </a:t>
            </a:r>
            <a:r>
              <a:rPr lang="en-US" sz="1800" b="1" dirty="0"/>
              <a:t>4.50</a:t>
            </a:r>
            <a:r>
              <a:rPr lang="en-US" sz="1800" dirty="0"/>
              <a:t> versus the platform average of </a:t>
            </a:r>
            <a:r>
              <a:rPr lang="en-US" sz="1800" b="1" dirty="0"/>
              <a:t>4.15</a:t>
            </a:r>
            <a:r>
              <a:rPr lang="en-US" sz="1800" dirty="0"/>
              <a:t>, highlighting under-discovered high-quality restaurants with strong growth potential.</a:t>
            </a:r>
            <a:endParaRPr lang="en-US"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6A6BC94-92D8-7682-7628-C0A86FAE0132}"/>
              </a:ext>
            </a:extLst>
          </p:cNvPr>
          <p:cNvPicPr>
            <a:picLocks noChangeAspect="1"/>
          </p:cNvPicPr>
          <p:nvPr/>
        </p:nvPicPr>
        <p:blipFill>
          <a:blip r:embed="rId2"/>
          <a:stretch>
            <a:fillRect/>
          </a:stretch>
        </p:blipFill>
        <p:spPr>
          <a:xfrm>
            <a:off x="6915150" y="1690688"/>
            <a:ext cx="4934403" cy="4351338"/>
          </a:xfrm>
          <a:prstGeom prst="rect">
            <a:avLst/>
          </a:prstGeom>
        </p:spPr>
      </p:pic>
    </p:spTree>
    <p:extLst>
      <p:ext uri="{BB962C8B-B14F-4D97-AF65-F5344CB8AC3E}">
        <p14:creationId xmlns:p14="http://schemas.microsoft.com/office/powerpoint/2010/main" val="309886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86993-BBAB-418A-2AC8-7CA985BA0EAD}"/>
              </a:ext>
            </a:extLst>
          </p:cNvPr>
          <p:cNvSpPr>
            <a:spLocks noGrp="1"/>
          </p:cNvSpPr>
          <p:nvPr>
            <p:ph type="title"/>
          </p:nvPr>
        </p:nvSpPr>
        <p:spPr>
          <a:xfrm>
            <a:off x="838200" y="365126"/>
            <a:ext cx="10515600" cy="806450"/>
          </a:xfrm>
        </p:spPr>
        <p:txBody>
          <a:bodyPr>
            <a:normAutofit/>
          </a:bodyPr>
          <a:lstStyle/>
          <a:p>
            <a:r>
              <a:rPr lang="en-IN" sz="3200" b="1" dirty="0">
                <a:solidFill>
                  <a:srgbClr val="FF0000"/>
                </a:solidFill>
                <a:latin typeface="Times New Roman" panose="02020603050405020304" pitchFamily="18" charset="0"/>
                <a:cs typeface="Times New Roman" panose="02020603050405020304" pitchFamily="18" charset="0"/>
              </a:rPr>
              <a:t>Business Insights </a:t>
            </a:r>
          </a:p>
        </p:txBody>
      </p:sp>
      <p:sp>
        <p:nvSpPr>
          <p:cNvPr id="4" name="Rectangle 1">
            <a:extLst>
              <a:ext uri="{FF2B5EF4-FFF2-40B4-BE49-F238E27FC236}">
                <a16:creationId xmlns:a16="http://schemas.microsoft.com/office/drawing/2014/main" id="{8C818813-FD16-2300-4FF2-8218B8D35BFC}"/>
              </a:ext>
            </a:extLst>
          </p:cNvPr>
          <p:cNvSpPr>
            <a:spLocks noGrp="1" noChangeArrowheads="1"/>
          </p:cNvSpPr>
          <p:nvPr>
            <p:ph idx="1"/>
          </p:nvPr>
        </p:nvSpPr>
        <p:spPr bwMode="auto">
          <a:xfrm>
            <a:off x="838200" y="1511563"/>
            <a:ext cx="8132354" cy="336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Most restaurant ratings are concentrated between 4.0–4.5, showing high competition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North Indian cuisine dominates the market with high customer demand</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Premium cuisines like Asian and Continental receive higher ratings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High customer reviews do not always indicate high customer satisfaction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Highly rated restaurants with fewer reviews show hidden growth potential</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Customer engagement is concentrated among a few popular restaurants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Restaurants offering multiple cuisines attract higher engagement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Prime locations significantly influence restaurant ratings and popularity</a:t>
            </a:r>
          </a:p>
        </p:txBody>
      </p:sp>
    </p:spTree>
    <p:extLst>
      <p:ext uri="{BB962C8B-B14F-4D97-AF65-F5344CB8AC3E}">
        <p14:creationId xmlns:p14="http://schemas.microsoft.com/office/powerpoint/2010/main" val="8746155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FBC79-AFF9-7196-F653-690BC82466A1}"/>
              </a:ext>
            </a:extLst>
          </p:cNvPr>
          <p:cNvSpPr>
            <a:spLocks noGrp="1"/>
          </p:cNvSpPr>
          <p:nvPr>
            <p:ph type="title"/>
          </p:nvPr>
        </p:nvSpPr>
        <p:spPr>
          <a:xfrm>
            <a:off x="838200" y="365126"/>
            <a:ext cx="10515600" cy="863600"/>
          </a:xfrm>
        </p:spPr>
        <p:txBody>
          <a:bodyPr>
            <a:normAutofit/>
          </a:bodyPr>
          <a:lstStyle/>
          <a:p>
            <a:r>
              <a:rPr lang="en-IN" sz="3200" b="1" dirty="0">
                <a:solidFill>
                  <a:srgbClr val="FF0000"/>
                </a:solidFill>
                <a:latin typeface="Times New Roman" panose="02020603050405020304" pitchFamily="18" charset="0"/>
                <a:cs typeface="Times New Roman" panose="02020603050405020304" pitchFamily="18" charset="0"/>
              </a:rPr>
              <a:t>Conclusion</a:t>
            </a:r>
            <a:endParaRPr lang="en-IN" sz="3200" dirty="0"/>
          </a:p>
        </p:txBody>
      </p:sp>
      <p:sp>
        <p:nvSpPr>
          <p:cNvPr id="10" name="Rectangle 5">
            <a:extLst>
              <a:ext uri="{FF2B5EF4-FFF2-40B4-BE49-F238E27FC236}">
                <a16:creationId xmlns:a16="http://schemas.microsoft.com/office/drawing/2014/main" id="{4CA895ED-0BA6-C432-B85D-405852933EDE}"/>
              </a:ext>
            </a:extLst>
          </p:cNvPr>
          <p:cNvSpPr>
            <a:spLocks noChangeArrowheads="1"/>
          </p:cNvSpPr>
          <p:nvPr/>
        </p:nvSpPr>
        <p:spPr bwMode="auto">
          <a:xfrm>
            <a:off x="838200" y="1543051"/>
            <a:ext cx="8515350" cy="2535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used web scraping and exploratory data analysis (EDA) to extract valuable insights from Zomato restaurant data. The analysis identified customer preferences, cuisine trends, restaurant popularity patterns, premium dining trends, and hidden growth opportunities. Using univariate, bivariate, and multivariate analysis, </a:t>
            </a:r>
            <a:r>
              <a:rPr lang="en-US" altLang="en-US" dirty="0">
                <a:latin typeface="Times New Roman" panose="02020603050405020304" pitchFamily="18" charset="0"/>
                <a:cs typeface="Times New Roman" panose="02020603050405020304" pitchFamily="18" charset="0"/>
              </a:rPr>
              <a:t>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 project highlighted the importance of customer satisfaction, online visibility, cuisine strategy, location intelligence, and data-driven decision-making in restaurant business success.</a:t>
            </a:r>
          </a:p>
        </p:txBody>
      </p:sp>
    </p:spTree>
    <p:extLst>
      <p:ext uri="{BB962C8B-B14F-4D97-AF65-F5344CB8AC3E}">
        <p14:creationId xmlns:p14="http://schemas.microsoft.com/office/powerpoint/2010/main" val="1204142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8814B-77B1-F507-F097-8C7DEDDABDE3}"/>
              </a:ext>
            </a:extLst>
          </p:cNvPr>
          <p:cNvSpPr>
            <a:spLocks noGrp="1"/>
          </p:cNvSpPr>
          <p:nvPr>
            <p:ph type="title"/>
          </p:nvPr>
        </p:nvSpPr>
        <p:spPr/>
        <p:txBody>
          <a:bodyPr>
            <a:normAutofit/>
          </a:bodyPr>
          <a:lstStyle/>
          <a:p>
            <a:r>
              <a:rPr lang="en-IN" sz="3200" b="1" dirty="0">
                <a:solidFill>
                  <a:srgbClr val="FF0000"/>
                </a:solidFill>
                <a:latin typeface="Times New Roman" panose="02020603050405020304" pitchFamily="18" charset="0"/>
                <a:cs typeface="Times New Roman" panose="02020603050405020304" pitchFamily="18" charset="0"/>
              </a:rPr>
              <a:t>Recommendations</a:t>
            </a:r>
          </a:p>
        </p:txBody>
      </p:sp>
      <p:sp>
        <p:nvSpPr>
          <p:cNvPr id="4" name="Rectangle 1">
            <a:extLst>
              <a:ext uri="{FF2B5EF4-FFF2-40B4-BE49-F238E27FC236}">
                <a16:creationId xmlns:a16="http://schemas.microsoft.com/office/drawing/2014/main" id="{7C260E2C-2F93-38D8-2C18-E394B2A771A6}"/>
              </a:ext>
            </a:extLst>
          </p:cNvPr>
          <p:cNvSpPr>
            <a:spLocks noGrp="1" noChangeArrowheads="1"/>
          </p:cNvSpPr>
          <p:nvPr>
            <p:ph idx="1"/>
          </p:nvPr>
        </p:nvSpPr>
        <p:spPr bwMode="auto">
          <a:xfrm>
            <a:off x="981075" y="1953468"/>
            <a:ext cx="7486986" cy="2951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Improve digital visibility through social media and promotions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Differentiate from competitors using unique menus and premium experiences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Focus on food quality, service, hygiene, and customer satisfaction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Expand premium and fusion cuisine offerings to attract customers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customer reviews to improve operations and retention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Diversify menu options to increase customer engagement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Target high-potential locations for future restaurant expansion</a:t>
            </a:r>
          </a:p>
        </p:txBody>
      </p:sp>
    </p:spTree>
    <p:extLst>
      <p:ext uri="{BB962C8B-B14F-4D97-AF65-F5344CB8AC3E}">
        <p14:creationId xmlns:p14="http://schemas.microsoft.com/office/powerpoint/2010/main" val="36817169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TotalTime>
  <Words>785</Words>
  <Application>Microsoft Office PowerPoint</Application>
  <PresentationFormat>Widescreen</PresentationFormat>
  <Paragraphs>49</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Libre Baskerville</vt:lpstr>
      <vt:lpstr>Times New Roman</vt:lpstr>
      <vt:lpstr>Office Theme</vt:lpstr>
      <vt:lpstr>PowerPoint Presentation</vt:lpstr>
      <vt:lpstr>PowerPoint Presentation</vt:lpstr>
      <vt:lpstr>Business Problem</vt:lpstr>
      <vt:lpstr>Objective </vt:lpstr>
      <vt:lpstr>Web Scraping Process</vt:lpstr>
      <vt:lpstr>Exploratory Data Analysis (EDA)</vt:lpstr>
      <vt:lpstr>Data Visualization</vt:lpstr>
      <vt:lpstr>Top Cuisines Objective - Identify dominant cuisine categories.</vt:lpstr>
      <vt:lpstr>Rating Categories Objective : Segment restaurants by quality tiers.</vt:lpstr>
      <vt:lpstr>Popularity Category vs Reviews Objective : Analyze review spread across popularity segments.</vt:lpstr>
      <vt:lpstr>Cuisine + Reviews + Ratings  Objective : Identify market leaders.</vt:lpstr>
      <vt:lpstr>Hypothesis Testing </vt:lpstr>
      <vt:lpstr>Business Insights </vt:lpstr>
      <vt:lpstr>Conclusion</vt:lpstr>
      <vt:lpstr>Recommendations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Jaya surya</dc:creator>
  <cp:lastModifiedBy>Jaya surya</cp:lastModifiedBy>
  <cp:revision>2</cp:revision>
  <dcterms:created xsi:type="dcterms:W3CDTF">2026-05-29T16:21:26Z</dcterms:created>
  <dcterms:modified xsi:type="dcterms:W3CDTF">2026-05-30T05:06:19Z</dcterms:modified>
</cp:coreProperties>
</file>